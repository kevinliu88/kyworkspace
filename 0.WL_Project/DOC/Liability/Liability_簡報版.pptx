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76" r:id="rId5"/>
    <p:sldId id="269" r:id="rId6"/>
    <p:sldId id="291" r:id="rId7"/>
    <p:sldId id="259" r:id="rId8"/>
    <p:sldId id="292" r:id="rId9"/>
    <p:sldId id="293" r:id="rId10"/>
    <p:sldId id="286" r:id="rId11"/>
    <p:sldId id="284" r:id="rId12"/>
    <p:sldId id="266" r:id="rId13"/>
    <p:sldId id="287" r:id="rId14"/>
    <p:sldId id="273" r:id="rId15"/>
    <p:sldId id="268" r:id="rId16"/>
    <p:sldId id="289" r:id="rId17"/>
    <p:sldId id="267" r:id="rId18"/>
    <p:sldId id="288" r:id="rId19"/>
    <p:sldId id="274" r:id="rId20"/>
    <p:sldId id="275" r:id="rId21"/>
    <p:sldId id="285" r:id="rId22"/>
    <p:sldId id="278" r:id="rId23"/>
    <p:sldId id="290" r:id="rId24"/>
    <p:sldId id="281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4CDA9DA-BFF1-40BE-AEC5-5E18151D0588}">
          <p14:sldIdLst>
            <p14:sldId id="276"/>
            <p14:sldId id="269"/>
            <p14:sldId id="291"/>
            <p14:sldId id="259"/>
            <p14:sldId id="292"/>
            <p14:sldId id="293"/>
            <p14:sldId id="286"/>
            <p14:sldId id="284"/>
            <p14:sldId id="266"/>
            <p14:sldId id="287"/>
            <p14:sldId id="273"/>
            <p14:sldId id="268"/>
            <p14:sldId id="289"/>
            <p14:sldId id="267"/>
            <p14:sldId id="288"/>
            <p14:sldId id="274"/>
            <p14:sldId id="275"/>
            <p14:sldId id="285"/>
            <p14:sldId id="278"/>
            <p14:sldId id="29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C618F1-C4A4-4364-15C4-725AB88869F4}" v="1" dt="2026-03-12T05:15:04.8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49" autoAdjust="0"/>
  </p:normalViewPr>
  <p:slideViewPr>
    <p:cSldViewPr snapToGrid="0">
      <p:cViewPr varScale="1">
        <p:scale>
          <a:sx n="87" d="100"/>
          <a:sy n="87" d="100"/>
        </p:scale>
        <p:origin x="4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gney Wu" userId="S::rogney.wu@wonderland.com.tw::64847bfd-f544-4d05-8aad-3a8b9a1ac400" providerId="AD" clId="Web-{05C618F1-C4A4-4364-15C4-725AB88869F4}"/>
    <pc:docChg chg="sldOrd">
      <pc:chgData name="Rogney Wu" userId="S::rogney.wu@wonderland.com.tw::64847bfd-f544-4d05-8aad-3a8b9a1ac400" providerId="AD" clId="Web-{05C618F1-C4A4-4364-15C4-725AB88869F4}" dt="2026-03-12T05:15:04.887" v="0"/>
      <pc:docMkLst>
        <pc:docMk/>
      </pc:docMkLst>
      <pc:sldChg chg="ord">
        <pc:chgData name="Rogney Wu" userId="S::rogney.wu@wonderland.com.tw::64847bfd-f544-4d05-8aad-3a8b9a1ac400" providerId="AD" clId="Web-{05C618F1-C4A4-4364-15C4-725AB88869F4}" dt="2026-03-12T05:15:04.887" v="0"/>
        <pc:sldMkLst>
          <pc:docMk/>
          <pc:sldMk cId="2402960012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6DCAC-556F-4D95-89CD-ED485147E0F2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0D436-06CF-44B5-838A-784B315935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390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0D436-06CF-44B5-838A-784B3159352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8181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0D436-06CF-44B5-838A-784B3159352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824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0D436-06CF-44B5-838A-784B3159352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2795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0D436-06CF-44B5-838A-784B3159352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1888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0D436-06CF-44B5-838A-784B3159352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4623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673FC0-07BF-3701-D2ED-C7C523072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19DB731-2423-57DB-A30D-CD766F5FE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E8DD7E-249E-E0AB-7B93-733C009DD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470B2-CEAD-46AF-B8A6-ADDA84C3AA67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E316B0-8133-E49D-E3BA-B252041A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1A1010-BA33-11B3-0DF9-54799F07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16F-14E0-4C1B-B15A-97C094D16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867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EFECFE-6BE3-F451-B085-12796EBBC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AAD8FC-E221-8FD9-3C3E-933D3B8DD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9E68AE-C614-24C9-18FC-ECFA8E3C0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470B2-CEAD-46AF-B8A6-ADDA84C3AA67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2C8D8E-F541-5A96-174A-05A72270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567DD3-4DFA-6680-3CEB-7EB4700D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16F-14E0-4C1B-B15A-97C094D16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704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AB8A1E-5BED-46BE-EEA1-D2CEBA7A5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86820E-E846-C3A3-B040-2C7B20557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A19EFD-1F04-0F00-F179-194FF17A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470B2-CEAD-46AF-B8A6-ADDA84C3AA67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A577AC-5FD8-26B7-BC33-CE2D6B19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17ACCB-392F-01BD-8724-C1B51BBD8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16F-14E0-4C1B-B15A-97C094D16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3198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04AA83-EFF8-0353-A719-D8DE0373B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6ACC89-E5B8-A97C-A3DE-C7C96EBD2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CE75889-4AB5-B9B2-810A-26B4C7B92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C67BA7-2A01-211F-5ED1-ED2250A21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470B2-CEAD-46AF-B8A6-ADDA84C3AA67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B4CBD91-2F77-1E7C-C413-C954A1C31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39FD8A7-78BA-1E27-DE1B-B16DD764B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16F-14E0-4C1B-B15A-97C094D16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3759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98A3DF-EFDF-4056-43A6-30914A83E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2006F00-DE27-3BB0-13E5-AC4BC6E04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194D846-8DD9-716D-1328-C694A09C8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12C54D2-8EC5-4EB4-FD07-8264F70D3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F4EF4B8-4A0B-0040-E441-79111D7D8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0AB35E2-EDBC-EEA1-FB87-C140896A8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470B2-CEAD-46AF-B8A6-ADDA84C3AA67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A454061-87D1-11F4-D306-EEABD23EF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E138FC1-8B1C-81D5-6B50-CE9F07B9D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16F-14E0-4C1B-B15A-97C094D16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868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F01FB-515D-EF74-AC59-C9FB55EE3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87618BD-3977-E1B6-77CD-0A1226440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470B2-CEAD-46AF-B8A6-ADDA84C3AA67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4A56A3D-046B-0F43-5844-B5C435226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D9BBC7C-D263-4110-22F2-521A7BE2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16F-14E0-4C1B-B15A-97C094D16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4166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5484C71-FFF9-EB15-3C4A-008C5E435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470B2-CEAD-46AF-B8A6-ADDA84C3AA67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261AE6-BC51-B44D-3D76-C3EED9BF0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E11264-5E99-136B-470D-10C4A5468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16F-14E0-4C1B-B15A-97C094D16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1479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1ACCDE-393F-88C0-2438-CD9ACBF7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38E840-E5FB-6F41-82C4-C4A881617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1569088-7CE4-5D39-B7ED-75BD1A707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FB6CB33-1993-F3E1-6643-F92B0C5B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470B2-CEAD-46AF-B8A6-ADDA84C3AA67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A3D5753-68ED-C184-3547-DEA33E83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431778-8263-7D5C-BA6C-93AB5CABF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16F-14E0-4C1B-B15A-97C094D16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000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B087C-B1CC-BF0D-C6E3-BE02A26DF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66B70FA-2CB3-D76E-EEB0-1BC7E649D4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E947517-6697-C7FB-D7E9-22344C166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381250-660E-3B5A-8502-3ACE08539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470B2-CEAD-46AF-B8A6-ADDA84C3AA67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88A1A57-B503-D0D1-E77B-E682C2B49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E2B5334-9E16-FAAF-6291-55BBAED5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16F-14E0-4C1B-B15A-97C094D16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196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A5B6C2-B719-49C9-A7BA-AEFBB68F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BCB8F0E-21BE-9BE8-7767-D0BAD52CB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D49CBF-AF1A-89AC-6C3F-BEC6EF643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470B2-CEAD-46AF-B8A6-ADDA84C3AA67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F3CD3A-05D0-B737-AE6B-1C971E46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0FF84C-E5D5-2DFE-066F-807D269A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16F-14E0-4C1B-B15A-97C094D16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215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7B0B861-D907-B7C9-DCAA-1A66928F21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619A1F0-F8C4-B970-D257-90B0BD19D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903BA1-F099-64F1-A76D-0529700E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470B2-CEAD-46AF-B8A6-ADDA84C3AA67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889117-AC7D-2A11-CBCF-5823C4029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C8F2BE-0FD0-543A-18AA-17A46651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16F-14E0-4C1B-B15A-97C094D16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770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AB2E745-8227-C134-8A44-742DF041B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D9A047-D761-0DDC-0483-9BD74E161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FFA890-F970-80D5-F5B1-B249FFED4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8470B2-CEAD-46AF-B8A6-ADDA84C3AA67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6EBED9-1485-8CF9-2FAC-17FDAA5FA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C2F1AD-1A55-3CCC-7AB1-977A40EFB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6316F-14E0-4C1B-B15A-97C094D16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9283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B9F4A-0C97-15F2-7FDB-1702A4CAB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8F2C1C-EE88-522B-DA23-5005EF430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 情境模擬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729899-249E-283C-EFBF-9948EC0DC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5855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接單，預採與 </a:t>
            </a:r>
            <a:r>
              <a:rPr lang="en-US" altLang="zh-TW" sz="2000" dirty="0"/>
              <a:t>Liability </a:t>
            </a:r>
            <a:r>
              <a:rPr lang="zh-TW" altLang="en-US" sz="2000" dirty="0"/>
              <a:t>比較</a:t>
            </a:r>
            <a:endParaRPr lang="en-US" altLang="zh-TW" sz="20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訂單增量</a:t>
            </a:r>
            <a:endParaRPr lang="en-US" altLang="zh-TW" sz="20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訂單減量或取消</a:t>
            </a:r>
            <a:endParaRPr lang="en-US" altLang="zh-TW" sz="2000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sz="2000" dirty="0"/>
              <a:t>MOQ/MPQ </a:t>
            </a:r>
            <a:r>
              <a:rPr lang="zh-TW" altLang="en-US" sz="2000" dirty="0"/>
              <a:t>的影響</a:t>
            </a:r>
            <a:r>
              <a:rPr lang="en-US" altLang="zh-TW" sz="2000" dirty="0"/>
              <a:t>Liability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因完工移轉至半品、成品</a:t>
            </a:r>
            <a:endParaRPr lang="en-US" altLang="zh-TW" sz="20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成品出貨除帳</a:t>
            </a:r>
            <a:endParaRPr lang="en-US" altLang="zh-TW" sz="20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呆滯庫存帳齡計算 </a:t>
            </a:r>
            <a:r>
              <a:rPr lang="en-US" altLang="zh-TW" sz="2000" dirty="0"/>
              <a:t>(</a:t>
            </a:r>
            <a:r>
              <a:rPr lang="zh-TW" altLang="en-US" sz="2000" dirty="0"/>
              <a:t>請款用</a:t>
            </a:r>
            <a:r>
              <a:rPr lang="en-US" altLang="zh-TW" sz="20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000" dirty="0"/>
              <a:t>Open Issues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EB9E109-C16B-B866-126C-DD5032036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666435"/>
              </p:ext>
            </p:extLst>
          </p:nvPr>
        </p:nvGraphicFramePr>
        <p:xfrm>
          <a:off x="6096000" y="1690688"/>
          <a:ext cx="5025292" cy="3323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5807">
                  <a:extLst>
                    <a:ext uri="{9D8B030D-6E8A-4147-A177-3AD203B41FA5}">
                      <a16:colId xmlns:a16="http://schemas.microsoft.com/office/drawing/2014/main" val="634192162"/>
                    </a:ext>
                  </a:extLst>
                </a:gridCol>
                <a:gridCol w="2519485">
                  <a:extLst>
                    <a:ext uri="{9D8B030D-6E8A-4147-A177-3AD203B41FA5}">
                      <a16:colId xmlns:a16="http://schemas.microsoft.com/office/drawing/2014/main" val="1413291205"/>
                    </a:ext>
                  </a:extLst>
                </a:gridCol>
              </a:tblGrid>
              <a:tr h="428838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 Type</a:t>
                      </a:r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Table Name</a:t>
                      </a:r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135380"/>
                  </a:ext>
                </a:extLst>
              </a:tr>
              <a:tr h="428838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期別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ZTCX0017_1</a:t>
                      </a:r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14728"/>
                  </a:ext>
                </a:extLst>
              </a:tr>
              <a:tr h="428838">
                <a:tc>
                  <a:txBody>
                    <a:bodyPr/>
                    <a:lstStyle/>
                    <a:p>
                      <a:r>
                        <a:rPr lang="zh-TW" altLang="en-US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訂單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ZTCX0017_2</a:t>
                      </a:r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097678"/>
                  </a:ext>
                </a:extLst>
              </a:tr>
              <a:tr h="428838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PIR/ 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調整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ZTCX0017_3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386155"/>
                  </a:ext>
                </a:extLst>
              </a:tr>
              <a:tr h="750466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完工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出貨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展子階扣帳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展 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BOM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ZTCX0017_4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848196"/>
                  </a:ext>
                </a:extLst>
              </a:tr>
              <a:tr h="428838"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LB</a:t>
                      </a:r>
                      <a:r>
                        <a:rPr lang="zh-TW" altLang="en-US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總表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ZTCX0017_5</a:t>
                      </a:r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095343"/>
                  </a:ext>
                </a:extLst>
              </a:tr>
              <a:tr h="428838">
                <a:tc>
                  <a:txBody>
                    <a:bodyPr/>
                    <a:lstStyle/>
                    <a:p>
                      <a:r>
                        <a:rPr lang="zh-TW" altLang="en-US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沖銷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ZTCX0017_6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700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140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82649-EC37-17AA-D9B6-C504D547F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2A8C71-49DE-AA26-FCB4-F41A2572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客戶下預測或訂單時，即啟動 </a:t>
            </a:r>
            <a:r>
              <a:rPr lang="en-US" altLang="zh-TW" dirty="0"/>
              <a:t>Liability </a:t>
            </a:r>
            <a:r>
              <a:rPr lang="zh-TW" altLang="en-US" dirty="0"/>
              <a:t>計算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270E7C-12C9-3EBD-CDF1-E339A0B20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74875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當客戶下訂單或要求預測備料時，明門</a:t>
            </a:r>
            <a:r>
              <a:rPr lang="zh-TW" altLang="en-US" dirty="0">
                <a:solidFill>
                  <a:srgbClr val="FF0000"/>
                </a:solidFill>
              </a:rPr>
              <a:t>開始</a:t>
            </a:r>
            <a:r>
              <a:rPr lang="zh-TW" altLang="en-US" dirty="0"/>
              <a:t>採購或生產活動時，就產生 </a:t>
            </a:r>
            <a:r>
              <a:rPr lang="en-US" altLang="zh-TW" dirty="0"/>
              <a:t>Liability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 </a:t>
            </a:r>
            <a:r>
              <a:rPr lang="en-US" altLang="zh-TW" dirty="0"/>
              <a:t>Liability </a:t>
            </a:r>
            <a:r>
              <a:rPr lang="zh-TW" altLang="en-US" dirty="0">
                <a:solidFill>
                  <a:srgbClr val="FF0000"/>
                </a:solidFill>
              </a:rPr>
              <a:t>考量生產及採購前置時間</a:t>
            </a:r>
            <a:r>
              <a:rPr lang="zh-TW" altLang="en-US" dirty="0"/>
              <a:t>，客戶對此庫存負有責任。</a:t>
            </a:r>
            <a:endParaRPr lang="en-US" altLang="zh-TW" dirty="0"/>
          </a:p>
          <a:p>
            <a:r>
              <a:rPr lang="zh-TW" altLang="en-US" dirty="0"/>
              <a:t>庫存隨時間推移，</a:t>
            </a:r>
            <a:r>
              <a:rPr lang="en-US" altLang="zh-TW" dirty="0"/>
              <a:t>Liability </a:t>
            </a:r>
            <a:r>
              <a:rPr lang="zh-TW" altLang="en-US" dirty="0"/>
              <a:t>會由</a:t>
            </a:r>
            <a:r>
              <a:rPr lang="zh-TW" altLang="en-US" dirty="0">
                <a:solidFill>
                  <a:srgbClr val="FF0000"/>
                </a:solidFill>
              </a:rPr>
              <a:t>原物料轉為半成品、成品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當客戶依訂單</a:t>
            </a:r>
            <a:r>
              <a:rPr lang="zh-TW" altLang="en-US" dirty="0">
                <a:solidFill>
                  <a:srgbClr val="FF0000"/>
                </a:solidFill>
              </a:rPr>
              <a:t>出貨</a:t>
            </a:r>
            <a:r>
              <a:rPr lang="zh-TW" altLang="en-US" dirty="0"/>
              <a:t>後，庫存責任才會消除。</a:t>
            </a:r>
            <a:endParaRPr lang="en-US" altLang="zh-TW" dirty="0"/>
          </a:p>
          <a:p>
            <a:pPr lvl="1"/>
            <a:r>
              <a:rPr lang="zh-TW" altLang="en-US" dirty="0"/>
              <a:t>成品：出貨扣帳</a:t>
            </a:r>
            <a:endParaRPr lang="en-US" altLang="zh-TW" dirty="0"/>
          </a:p>
          <a:p>
            <a:pPr lvl="1"/>
            <a:r>
              <a:rPr lang="zh-TW" altLang="en-US" dirty="0"/>
              <a:t>半成品</a:t>
            </a:r>
            <a:r>
              <a:rPr lang="en-US" altLang="zh-TW" dirty="0"/>
              <a:t>/ </a:t>
            </a:r>
            <a:r>
              <a:rPr lang="zh-TW" altLang="en-US" dirty="0"/>
              <a:t>原料：</a:t>
            </a:r>
            <a:r>
              <a:rPr lang="en-US" altLang="zh-TW" dirty="0"/>
              <a:t>MTO </a:t>
            </a:r>
            <a:r>
              <a:rPr lang="zh-TW" altLang="en-US" dirty="0"/>
              <a:t>工單完工扣帳</a:t>
            </a:r>
            <a:endParaRPr lang="en-US" altLang="zh-TW" dirty="0"/>
          </a:p>
          <a:p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EB98BD6-8BDC-A26E-678A-5B51B5A8F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1686"/>
            <a:ext cx="12192000" cy="1326931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5E6769E8-94F2-1C9E-3AB9-818B60AA6635}"/>
              </a:ext>
            </a:extLst>
          </p:cNvPr>
          <p:cNvSpPr/>
          <p:nvPr/>
        </p:nvSpPr>
        <p:spPr>
          <a:xfrm>
            <a:off x="10392507" y="4158761"/>
            <a:ext cx="1301262" cy="6506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93E7437-EC18-B0D8-BD23-549C60B5776C}"/>
              </a:ext>
            </a:extLst>
          </p:cNvPr>
          <p:cNvSpPr/>
          <p:nvPr/>
        </p:nvSpPr>
        <p:spPr>
          <a:xfrm>
            <a:off x="6497515" y="4158761"/>
            <a:ext cx="1195754" cy="6506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899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0F0DE-B17F-8FA0-EEB1-B43E8BAE8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460497-FA9B-9A9E-8F80-F7887D015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預採帳與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88A6BC-118F-F40B-F3CD-3EE32442345E}"/>
              </a:ext>
            </a:extLst>
          </p:cNvPr>
          <p:cNvSpPr/>
          <p:nvPr/>
        </p:nvSpPr>
        <p:spPr>
          <a:xfrm>
            <a:off x="1310054" y="1591408"/>
            <a:ext cx="9838592" cy="19866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未結訂單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algn="ctr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SSP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母單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Blanket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母單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M-Forecast</a:t>
            </a: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大貨訂單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LL/45D</a:t>
            </a: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pl-PL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ZPP1, ZPP2, ZDO1, ZMT2, ZMT3, ZMT6, ZCO1, ZDO3, ZDO2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B93848-CE13-0211-D073-01F30387C6B5}"/>
              </a:ext>
            </a:extLst>
          </p:cNvPr>
          <p:cNvSpPr/>
          <p:nvPr/>
        </p:nvSpPr>
        <p:spPr>
          <a:xfrm>
            <a:off x="1310054" y="4207500"/>
            <a:ext cx="6506307" cy="11624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Lead Time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內需求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訂單需求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相依需求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006658-1892-3664-F3CA-BA68C487478E}"/>
              </a:ext>
            </a:extLst>
          </p:cNvPr>
          <p:cNvSpPr/>
          <p:nvPr/>
        </p:nvSpPr>
        <p:spPr>
          <a:xfrm>
            <a:off x="7816361" y="4207500"/>
            <a:ext cx="3332285" cy="11624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Lead Time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外需求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b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訂單需求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相依需求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A258B2-ADF5-253E-BD3B-4C1756AF819E}"/>
              </a:ext>
            </a:extLst>
          </p:cNvPr>
          <p:cNvSpPr/>
          <p:nvPr/>
        </p:nvSpPr>
        <p:spPr>
          <a:xfrm>
            <a:off x="1310054" y="5369914"/>
            <a:ext cx="6506307" cy="5011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箭號: 五邊形 12">
            <a:extLst>
              <a:ext uri="{FF2B5EF4-FFF2-40B4-BE49-F238E27FC236}">
                <a16:creationId xmlns:a16="http://schemas.microsoft.com/office/drawing/2014/main" id="{F0E0B851-DEB9-6CC7-0B26-B90C86F3746F}"/>
              </a:ext>
            </a:extLst>
          </p:cNvPr>
          <p:cNvSpPr/>
          <p:nvPr/>
        </p:nvSpPr>
        <p:spPr>
          <a:xfrm rot="16200000">
            <a:off x="7509720" y="5704904"/>
            <a:ext cx="613283" cy="1024828"/>
          </a:xfrm>
          <a:prstGeom prst="homePlat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內結餘</a:t>
            </a:r>
          </a:p>
        </p:txBody>
      </p:sp>
      <p:sp>
        <p:nvSpPr>
          <p:cNvPr id="14" name="箭號: 五邊形 13">
            <a:extLst>
              <a:ext uri="{FF2B5EF4-FFF2-40B4-BE49-F238E27FC236}">
                <a16:creationId xmlns:a16="http://schemas.microsoft.com/office/drawing/2014/main" id="{C4C4D323-A6BF-D0B6-4DD8-F03145A07251}"/>
              </a:ext>
            </a:extLst>
          </p:cNvPr>
          <p:cNvSpPr/>
          <p:nvPr/>
        </p:nvSpPr>
        <p:spPr>
          <a:xfrm rot="16200000">
            <a:off x="10842005" y="5180272"/>
            <a:ext cx="613283" cy="1024828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結餘</a:t>
            </a:r>
          </a:p>
        </p:txBody>
      </p:sp>
    </p:spTree>
    <p:extLst>
      <p:ext uri="{BB962C8B-B14F-4D97-AF65-F5344CB8AC3E}">
        <p14:creationId xmlns:p14="http://schemas.microsoft.com/office/powerpoint/2010/main" val="1230001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44ACA2-9F2E-473C-E2F8-69D402E2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</a:t>
            </a:r>
            <a:r>
              <a:rPr lang="en-US" altLang="zh-TW" b="1" dirty="0"/>
              <a:t> </a:t>
            </a:r>
            <a:r>
              <a:rPr lang="zh-TW" altLang="en-US" b="1" dirty="0"/>
              <a:t>與開帳 </a:t>
            </a:r>
            <a:r>
              <a:rPr lang="en-US" altLang="zh-TW" b="1" dirty="0"/>
              <a:t>(</a:t>
            </a:r>
            <a:r>
              <a:rPr lang="zh-TW" altLang="en-US" b="1" dirty="0"/>
              <a:t>不含 </a:t>
            </a:r>
            <a:r>
              <a:rPr lang="en-US" altLang="zh-TW" b="1" dirty="0"/>
              <a:t>LL/45D</a:t>
            </a:r>
            <a:r>
              <a:rPr lang="zh-TW" altLang="en-US" b="1" dirty="0"/>
              <a:t>討論</a:t>
            </a:r>
            <a:r>
              <a:rPr lang="en-US" altLang="zh-TW" b="1" dirty="0"/>
              <a:t>)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AB92D8-F7EE-E72A-9E3A-3D97626503F2}"/>
              </a:ext>
            </a:extLst>
          </p:cNvPr>
          <p:cNvSpPr/>
          <p:nvPr/>
        </p:nvSpPr>
        <p:spPr>
          <a:xfrm>
            <a:off x="1310053" y="1820007"/>
            <a:ext cx="7525833" cy="18991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未結訂單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algn="ctr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SSP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母單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Blanket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母單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M-Forecast</a:t>
            </a: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大貨訂單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LL/45D</a:t>
            </a: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pl-PL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ZPP1, ZPP2, ZDO1, ZMT2, ZMT3, ZMT6, ZCO1, ZDO3, ZDO2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3023A9-DFC0-1673-E20F-BC39C4B1252C}"/>
              </a:ext>
            </a:extLst>
          </p:cNvPr>
          <p:cNvSpPr/>
          <p:nvPr/>
        </p:nvSpPr>
        <p:spPr>
          <a:xfrm>
            <a:off x="8835886" y="1820007"/>
            <a:ext cx="2312759" cy="1899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202505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預採帳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algn="ctr"/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MOQ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結餘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XJ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單報庫存</a:t>
            </a:r>
            <a:b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MCN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變更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報廢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單顆長交期預採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1B5E9B-B664-9C27-3279-CF5E1CB2F3AB}"/>
              </a:ext>
            </a:extLst>
          </p:cNvPr>
          <p:cNvSpPr/>
          <p:nvPr/>
        </p:nvSpPr>
        <p:spPr>
          <a:xfrm>
            <a:off x="8563708" y="4068350"/>
            <a:ext cx="2584937" cy="11624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Lead Time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外需求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b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訂單需求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相依需求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501186-6647-092F-8C91-64C39F5EF76B}"/>
              </a:ext>
            </a:extLst>
          </p:cNvPr>
          <p:cNvSpPr/>
          <p:nvPr/>
        </p:nvSpPr>
        <p:spPr>
          <a:xfrm>
            <a:off x="1310054" y="5579970"/>
            <a:ext cx="7253654" cy="5011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箭號: 五邊形 12">
            <a:extLst>
              <a:ext uri="{FF2B5EF4-FFF2-40B4-BE49-F238E27FC236}">
                <a16:creationId xmlns:a16="http://schemas.microsoft.com/office/drawing/2014/main" id="{80E6FAB8-F5AA-A28F-3C7A-28139371E8E4}"/>
              </a:ext>
            </a:extLst>
          </p:cNvPr>
          <p:cNvSpPr/>
          <p:nvPr/>
        </p:nvSpPr>
        <p:spPr>
          <a:xfrm rot="16200000">
            <a:off x="8257067" y="5910900"/>
            <a:ext cx="613283" cy="1024828"/>
          </a:xfrm>
          <a:prstGeom prst="homePlat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L.T.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內結餘</a:t>
            </a:r>
          </a:p>
        </p:txBody>
      </p:sp>
      <p:sp>
        <p:nvSpPr>
          <p:cNvPr id="14" name="箭號: 五邊形 13">
            <a:extLst>
              <a:ext uri="{FF2B5EF4-FFF2-40B4-BE49-F238E27FC236}">
                <a16:creationId xmlns:a16="http://schemas.microsoft.com/office/drawing/2014/main" id="{D1974C7E-DACB-7B37-9740-58F62DC95AEF}"/>
              </a:ext>
            </a:extLst>
          </p:cNvPr>
          <p:cNvSpPr/>
          <p:nvPr/>
        </p:nvSpPr>
        <p:spPr>
          <a:xfrm rot="16200000">
            <a:off x="10842003" y="5024994"/>
            <a:ext cx="613283" cy="1024828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27950B-9DA2-73EE-6A40-8FA77B42C69D}"/>
              </a:ext>
            </a:extLst>
          </p:cNvPr>
          <p:cNvSpPr/>
          <p:nvPr/>
        </p:nvSpPr>
        <p:spPr>
          <a:xfrm>
            <a:off x="1310053" y="4068353"/>
            <a:ext cx="7253655" cy="11624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Lead Time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內需求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訂單需求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相依需求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572F7578-E9FC-CCD0-54C3-2EFE2FAD6F23}"/>
              </a:ext>
            </a:extLst>
          </p:cNvPr>
          <p:cNvSpPr/>
          <p:nvPr/>
        </p:nvSpPr>
        <p:spPr>
          <a:xfrm>
            <a:off x="1310053" y="4068353"/>
            <a:ext cx="1591407" cy="116241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調整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期初開帳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453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8EE74-45DB-0CAD-859C-150F31502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D96416-3CE0-B69B-0891-06430B7A2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</a:t>
            </a:r>
            <a:r>
              <a:rPr lang="en-US" altLang="zh-TW" b="1" dirty="0"/>
              <a:t> </a:t>
            </a:r>
            <a:r>
              <a:rPr lang="zh-TW" altLang="en-US" b="1" dirty="0"/>
              <a:t>與開帳 </a:t>
            </a:r>
            <a:r>
              <a:rPr lang="en-US" altLang="zh-TW" b="1" dirty="0"/>
              <a:t>(</a:t>
            </a:r>
            <a:r>
              <a:rPr lang="zh-TW" altLang="en-US" b="1" dirty="0"/>
              <a:t>不含 </a:t>
            </a:r>
            <a:r>
              <a:rPr lang="en-US" altLang="zh-TW" b="1" dirty="0"/>
              <a:t>LL/45D</a:t>
            </a:r>
            <a:r>
              <a:rPr lang="zh-TW" altLang="en-US" b="1" dirty="0"/>
              <a:t>討論</a:t>
            </a:r>
            <a:r>
              <a:rPr lang="en-US" altLang="zh-TW" b="1" dirty="0"/>
              <a:t>)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89D19F-0C94-22BE-7B27-688307486386}"/>
              </a:ext>
            </a:extLst>
          </p:cNvPr>
          <p:cNvSpPr/>
          <p:nvPr/>
        </p:nvSpPr>
        <p:spPr>
          <a:xfrm>
            <a:off x="1310053" y="1820007"/>
            <a:ext cx="7525833" cy="18991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未結訂單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algn="ctr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SSP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母單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Blanket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母單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M-Forecast</a:t>
            </a: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大貨訂單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pl-PL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ZPP1, ZPP2, ZDO1, ZMT2, ZMT3, ZMT6, ZCO1, ZDO3, ZDO2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B4D452-8F90-2BBA-E4F8-61E5CACBE3EA}"/>
              </a:ext>
            </a:extLst>
          </p:cNvPr>
          <p:cNvSpPr/>
          <p:nvPr/>
        </p:nvSpPr>
        <p:spPr>
          <a:xfrm>
            <a:off x="8835886" y="1820007"/>
            <a:ext cx="2312759" cy="1899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202505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預採帳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algn="ctr"/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MOQ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結餘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XJ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單報庫存</a:t>
            </a:r>
            <a:b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MCN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變更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報廢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LL/45D </a:t>
            </a: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單顆長交期預採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B52516-84A2-6A9A-555D-70E287C3183F}"/>
              </a:ext>
            </a:extLst>
          </p:cNvPr>
          <p:cNvSpPr/>
          <p:nvPr/>
        </p:nvSpPr>
        <p:spPr>
          <a:xfrm>
            <a:off x="8563708" y="4068350"/>
            <a:ext cx="2584937" cy="11624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Lead Time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外需求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b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訂單需求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相依需求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33A0B8-54CD-D655-D4A3-EFCCDCD6B2E3}"/>
              </a:ext>
            </a:extLst>
          </p:cNvPr>
          <p:cNvSpPr/>
          <p:nvPr/>
        </p:nvSpPr>
        <p:spPr>
          <a:xfrm>
            <a:off x="1310054" y="5633036"/>
            <a:ext cx="7253654" cy="5011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箭號: 五邊形 12">
            <a:extLst>
              <a:ext uri="{FF2B5EF4-FFF2-40B4-BE49-F238E27FC236}">
                <a16:creationId xmlns:a16="http://schemas.microsoft.com/office/drawing/2014/main" id="{C35B7F7B-1390-EF1F-A5EA-7BED89CFD94D}"/>
              </a:ext>
            </a:extLst>
          </p:cNvPr>
          <p:cNvSpPr/>
          <p:nvPr/>
        </p:nvSpPr>
        <p:spPr>
          <a:xfrm rot="16200000">
            <a:off x="8257067" y="5963966"/>
            <a:ext cx="613283" cy="1024828"/>
          </a:xfrm>
          <a:prstGeom prst="homePlat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L.T.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內結餘</a:t>
            </a:r>
          </a:p>
        </p:txBody>
      </p:sp>
      <p:sp>
        <p:nvSpPr>
          <p:cNvPr id="14" name="箭號: 五邊形 13">
            <a:extLst>
              <a:ext uri="{FF2B5EF4-FFF2-40B4-BE49-F238E27FC236}">
                <a16:creationId xmlns:a16="http://schemas.microsoft.com/office/drawing/2014/main" id="{A4A25568-E7A7-D49C-7645-223A9E5E9E40}"/>
              </a:ext>
            </a:extLst>
          </p:cNvPr>
          <p:cNvSpPr/>
          <p:nvPr/>
        </p:nvSpPr>
        <p:spPr>
          <a:xfrm rot="16200000">
            <a:off x="10842003" y="5024994"/>
            <a:ext cx="613283" cy="1024828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61904A-E8C0-4593-7AA6-42454175EFF0}"/>
              </a:ext>
            </a:extLst>
          </p:cNvPr>
          <p:cNvSpPr/>
          <p:nvPr/>
        </p:nvSpPr>
        <p:spPr>
          <a:xfrm>
            <a:off x="1310053" y="4068353"/>
            <a:ext cx="7253655" cy="11624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Lead Time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內需求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訂單需求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相依需求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71F2FDF-CA56-5AB2-D8E9-FBF457A3CE18}"/>
              </a:ext>
            </a:extLst>
          </p:cNvPr>
          <p:cNvSpPr/>
          <p:nvPr/>
        </p:nvSpPr>
        <p:spPr>
          <a:xfrm>
            <a:off x="1310053" y="4068353"/>
            <a:ext cx="1591407" cy="116241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調整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期初開帳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3398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7AFF8-72E9-26E1-98B4-EE72272DB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0483A8-53C7-0D34-1730-7629A51E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</a:t>
            </a:r>
            <a:r>
              <a:rPr lang="en-US" altLang="zh-TW" b="1" dirty="0"/>
              <a:t> </a:t>
            </a:r>
            <a:r>
              <a:rPr lang="zh-TW" altLang="en-US" b="1" dirty="0"/>
              <a:t>與開帳 </a:t>
            </a:r>
            <a:r>
              <a:rPr lang="en-US" altLang="zh-TW" b="1" dirty="0"/>
              <a:t>(</a:t>
            </a:r>
            <a:r>
              <a:rPr lang="zh-TW" altLang="en-US" b="1" dirty="0"/>
              <a:t>不含 </a:t>
            </a:r>
            <a:r>
              <a:rPr lang="en-US" altLang="zh-TW" b="1" dirty="0"/>
              <a:t>LL/45D</a:t>
            </a:r>
            <a:r>
              <a:rPr lang="zh-TW" altLang="en-US" b="1" dirty="0"/>
              <a:t>討論</a:t>
            </a:r>
            <a:r>
              <a:rPr lang="en-US" altLang="zh-TW" b="1" dirty="0"/>
              <a:t>)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F0BA2F-5C34-6471-8A27-38DA771A2464}"/>
              </a:ext>
            </a:extLst>
          </p:cNvPr>
          <p:cNvSpPr/>
          <p:nvPr/>
        </p:nvSpPr>
        <p:spPr>
          <a:xfrm>
            <a:off x="1310053" y="1820007"/>
            <a:ext cx="7525833" cy="18991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未結訂單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algn="ctr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SSP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母單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Blanket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母單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M-Forecast</a:t>
            </a: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大貨訂單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pl-PL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ZPP1, ZPP2, ZDO1, ZMT2, ZMT3, ZMT6, ZCO1, ZDO3, ZDO2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605C42-1B8A-41C4-5288-B2165BC6B71E}"/>
              </a:ext>
            </a:extLst>
          </p:cNvPr>
          <p:cNvSpPr/>
          <p:nvPr/>
        </p:nvSpPr>
        <p:spPr>
          <a:xfrm>
            <a:off x="8835886" y="1820007"/>
            <a:ext cx="2312759" cy="1899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202505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預採帳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algn="ctr"/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MOQ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結餘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XJ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單報庫存</a:t>
            </a:r>
            <a:b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MCN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變更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報廢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LL/45D </a:t>
            </a: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單顆長交期預採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50D56B-9559-DD1D-7BAC-4341F38E9583}"/>
              </a:ext>
            </a:extLst>
          </p:cNvPr>
          <p:cNvSpPr/>
          <p:nvPr/>
        </p:nvSpPr>
        <p:spPr>
          <a:xfrm>
            <a:off x="8563708" y="4068350"/>
            <a:ext cx="2584937" cy="11624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Lead Time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外需求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b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訂單需求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相依需求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B5920B-6B7E-077A-E60E-B1EF377E8032}"/>
              </a:ext>
            </a:extLst>
          </p:cNvPr>
          <p:cNvSpPr/>
          <p:nvPr/>
        </p:nvSpPr>
        <p:spPr>
          <a:xfrm>
            <a:off x="1310054" y="5633036"/>
            <a:ext cx="7253654" cy="5011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箭號: 五邊形 12">
            <a:extLst>
              <a:ext uri="{FF2B5EF4-FFF2-40B4-BE49-F238E27FC236}">
                <a16:creationId xmlns:a16="http://schemas.microsoft.com/office/drawing/2014/main" id="{E3D05D0D-A1B8-D22B-C633-A626F12F2792}"/>
              </a:ext>
            </a:extLst>
          </p:cNvPr>
          <p:cNvSpPr/>
          <p:nvPr/>
        </p:nvSpPr>
        <p:spPr>
          <a:xfrm rot="16200000">
            <a:off x="8257067" y="5963966"/>
            <a:ext cx="613283" cy="1024828"/>
          </a:xfrm>
          <a:prstGeom prst="homePlat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L.T.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內結餘</a:t>
            </a:r>
          </a:p>
        </p:txBody>
      </p:sp>
      <p:sp>
        <p:nvSpPr>
          <p:cNvPr id="14" name="箭號: 五邊形 13">
            <a:extLst>
              <a:ext uri="{FF2B5EF4-FFF2-40B4-BE49-F238E27FC236}">
                <a16:creationId xmlns:a16="http://schemas.microsoft.com/office/drawing/2014/main" id="{DF0BCE67-CE25-E1CD-3BC7-08C15BAC5F39}"/>
              </a:ext>
            </a:extLst>
          </p:cNvPr>
          <p:cNvSpPr/>
          <p:nvPr/>
        </p:nvSpPr>
        <p:spPr>
          <a:xfrm rot="16200000">
            <a:off x="10842003" y="5024994"/>
            <a:ext cx="613283" cy="1024828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F320FE-37A5-DEBF-7B8A-DE75867DEA35}"/>
              </a:ext>
            </a:extLst>
          </p:cNvPr>
          <p:cNvSpPr/>
          <p:nvPr/>
        </p:nvSpPr>
        <p:spPr>
          <a:xfrm>
            <a:off x="1310053" y="4068353"/>
            <a:ext cx="7253655" cy="11624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Lead Time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內需求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訂單需求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相依需求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(L.T.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1EF64CF8-BEA5-3BF8-2098-708606B57AA3}"/>
              </a:ext>
            </a:extLst>
          </p:cNvPr>
          <p:cNvSpPr/>
          <p:nvPr/>
        </p:nvSpPr>
        <p:spPr>
          <a:xfrm>
            <a:off x="1310053" y="4068353"/>
            <a:ext cx="1591407" cy="116241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調整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期初開帳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8865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541069-3053-EA74-666D-B2839349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50537"/>
          </a:xfrm>
        </p:spPr>
        <p:txBody>
          <a:bodyPr>
            <a:normAutofit fontScale="90000"/>
          </a:bodyPr>
          <a:lstStyle/>
          <a:p>
            <a:pPr lvl="0">
              <a:spcBef>
                <a:spcPts val="1000"/>
              </a:spcBef>
              <a:defRPr/>
            </a:pPr>
            <a:r>
              <a:rPr lang="zh-TW" altLang="en-US" sz="2200" dirty="0"/>
              <a:t>配銷通路：</a:t>
            </a:r>
            <a:r>
              <a:rPr lang="en-US" altLang="zh-TW" sz="2200" dirty="0"/>
              <a:t>J1</a:t>
            </a:r>
            <a:br>
              <a:rPr lang="en-US" altLang="zh-TW" sz="2200" dirty="0"/>
            </a:br>
            <a:r>
              <a:rPr lang="zh-TW" altLang="en-US" sz="2200" dirty="0"/>
              <a:t>訂單：</a:t>
            </a:r>
            <a:r>
              <a:rPr lang="en-US" altLang="zh-TW" sz="2200" dirty="0"/>
              <a:t>SO25710393</a:t>
            </a:r>
            <a:br>
              <a:rPr lang="en-US" altLang="zh-TW" sz="2200" dirty="0"/>
            </a:br>
            <a:r>
              <a:rPr lang="zh-TW" altLang="en-US" sz="2200" dirty="0"/>
              <a:t>項次：</a:t>
            </a:r>
            <a:r>
              <a:rPr lang="en-US" altLang="zh-TW" sz="2200" dirty="0"/>
              <a:t>4</a:t>
            </a:r>
            <a:br>
              <a:rPr lang="en-US" altLang="zh-TW" sz="2200" dirty="0"/>
            </a:br>
            <a:r>
              <a:rPr lang="zh-TW" altLang="en-US" sz="2200" dirty="0"/>
              <a:t>料號：</a:t>
            </a:r>
            <a:r>
              <a:rPr lang="en-US" altLang="zh-TW" sz="2200" dirty="0"/>
              <a:t>AP4-001403</a:t>
            </a:r>
            <a:br>
              <a:rPr lang="en-US" altLang="zh-TW" sz="2200" dirty="0"/>
            </a:br>
            <a:r>
              <a:rPr lang="zh-TW" altLang="en-US" sz="2200" dirty="0"/>
              <a:t>數量：</a:t>
            </a:r>
            <a:r>
              <a:rPr lang="en-US" altLang="zh-TW" sz="2200" dirty="0"/>
              <a:t>168</a:t>
            </a:r>
            <a:br>
              <a:rPr lang="en-US" altLang="zh-TW" sz="2200" dirty="0"/>
            </a:br>
            <a:r>
              <a:rPr lang="zh-TW" altLang="en-US" sz="2200" dirty="0"/>
              <a:t>日期：</a:t>
            </a:r>
            <a:r>
              <a:rPr lang="en-US" altLang="zh-TW" sz="2200" dirty="0"/>
              <a:t>2025/10/07</a:t>
            </a:r>
            <a:endParaRPr lang="zh-TW" altLang="en-US" sz="2200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BDBE9952-9597-E339-CE40-1D2EEE604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5631"/>
            <a:ext cx="12092091" cy="4468240"/>
          </a:xfrm>
          <a:prstGeom prst="rect">
            <a:avLst/>
          </a:prstGeom>
          <a:noFill/>
        </p:spPr>
      </p:pic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02C93897-8E93-B7E8-EFA3-F786D531C383}"/>
              </a:ext>
            </a:extLst>
          </p:cNvPr>
          <p:cNvSpPr/>
          <p:nvPr/>
        </p:nvSpPr>
        <p:spPr>
          <a:xfrm>
            <a:off x="6971797" y="2821625"/>
            <a:ext cx="1933904" cy="19413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72F45553-91E8-F717-ADCF-36B97EF2FC4F}"/>
              </a:ext>
            </a:extLst>
          </p:cNvPr>
          <p:cNvSpPr/>
          <p:nvPr/>
        </p:nvSpPr>
        <p:spPr>
          <a:xfrm>
            <a:off x="6989381" y="3279866"/>
            <a:ext cx="1933904" cy="19413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A2EE2134-5470-C832-0493-75B91B8DA4A9}"/>
              </a:ext>
            </a:extLst>
          </p:cNvPr>
          <p:cNvSpPr/>
          <p:nvPr/>
        </p:nvSpPr>
        <p:spPr>
          <a:xfrm>
            <a:off x="6919047" y="4800935"/>
            <a:ext cx="1933904" cy="19413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語音泡泡: 圓角矩形 21">
            <a:extLst>
              <a:ext uri="{FF2B5EF4-FFF2-40B4-BE49-F238E27FC236}">
                <a16:creationId xmlns:a16="http://schemas.microsoft.com/office/drawing/2014/main" id="{97A1529E-7849-5CDE-F457-1513DACF99B5}"/>
              </a:ext>
            </a:extLst>
          </p:cNvPr>
          <p:cNvSpPr/>
          <p:nvPr/>
        </p:nvSpPr>
        <p:spPr>
          <a:xfrm>
            <a:off x="3516923" y="4133604"/>
            <a:ext cx="1415965" cy="612648"/>
          </a:xfrm>
          <a:prstGeom prst="wedgeRoundRectCallout">
            <a:avLst>
              <a:gd name="adj1" fmla="val 52244"/>
              <a:gd name="adj2" fmla="val -6809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展開</a:t>
            </a:r>
          </a:p>
        </p:txBody>
      </p:sp>
      <p:sp>
        <p:nvSpPr>
          <p:cNvPr id="23" name="語音泡泡: 圓角矩形 22">
            <a:extLst>
              <a:ext uri="{FF2B5EF4-FFF2-40B4-BE49-F238E27FC236}">
                <a16:creationId xmlns:a16="http://schemas.microsoft.com/office/drawing/2014/main" id="{AF424888-6C45-1806-2505-1EC6E6FC8413}"/>
              </a:ext>
            </a:extLst>
          </p:cNvPr>
          <p:cNvSpPr/>
          <p:nvPr/>
        </p:nvSpPr>
        <p:spPr>
          <a:xfrm>
            <a:off x="9371894" y="3712093"/>
            <a:ext cx="1617279" cy="612648"/>
          </a:xfrm>
          <a:prstGeom prst="wedgeRoundRectCallout">
            <a:avLst>
              <a:gd name="adj1" fmla="val -74426"/>
              <a:gd name="adj2" fmla="val -8962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Lead Time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B30AB132-F94A-64C0-35DB-8E852F9AF74F}"/>
              </a:ext>
            </a:extLst>
          </p:cNvPr>
          <p:cNvSpPr/>
          <p:nvPr/>
        </p:nvSpPr>
        <p:spPr>
          <a:xfrm>
            <a:off x="2216065" y="2389759"/>
            <a:ext cx="922789" cy="446824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語音泡泡: 圓角矩形 28">
            <a:extLst>
              <a:ext uri="{FF2B5EF4-FFF2-40B4-BE49-F238E27FC236}">
                <a16:creationId xmlns:a16="http://schemas.microsoft.com/office/drawing/2014/main" id="{0EB79DB3-4C04-4D70-1ED6-10563093B73F}"/>
              </a:ext>
            </a:extLst>
          </p:cNvPr>
          <p:cNvSpPr/>
          <p:nvPr/>
        </p:nvSpPr>
        <p:spPr>
          <a:xfrm>
            <a:off x="422031" y="4439928"/>
            <a:ext cx="1617279" cy="612648"/>
          </a:xfrm>
          <a:prstGeom prst="wedgeRoundRectCallout">
            <a:avLst>
              <a:gd name="adj1" fmla="val 52244"/>
              <a:gd name="adj2" fmla="val -6809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訂單展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</a:t>
            </a:r>
          </a:p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的相依需求</a:t>
            </a:r>
          </a:p>
        </p:txBody>
      </p:sp>
    </p:spTree>
    <p:extLst>
      <p:ext uri="{BB962C8B-B14F-4D97-AF65-F5344CB8AC3E}">
        <p14:creationId xmlns:p14="http://schemas.microsoft.com/office/powerpoint/2010/main" val="157781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B4A5D4-8F22-E2AB-39A8-FAEDE6FA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ZTGCX0017 </a:t>
            </a:r>
            <a:r>
              <a:rPr lang="zh-TW" altLang="en-US" dirty="0"/>
              <a:t>客戶責任材料計算報表</a:t>
            </a: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4E7BB651-5799-A169-1C0B-8EED844EE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83504"/>
            <a:ext cx="12208409" cy="4270000"/>
          </a:xfrm>
        </p:spPr>
      </p:pic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F5E841B7-05E8-D9FB-B5A8-086AEA594897}"/>
              </a:ext>
            </a:extLst>
          </p:cNvPr>
          <p:cNvSpPr/>
          <p:nvPr/>
        </p:nvSpPr>
        <p:spPr>
          <a:xfrm>
            <a:off x="8348295" y="2522228"/>
            <a:ext cx="2167306" cy="2058564"/>
          </a:xfrm>
          <a:prstGeom prst="wedgeRoundRectCallout">
            <a:avLst>
              <a:gd name="adj1" fmla="val -48083"/>
              <a:gd name="adj2" fmla="val -5750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1: 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工單完工</a:t>
            </a:r>
            <a:endParaRPr lang="en-US" altLang="zh-TW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2: 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出貨</a:t>
            </a:r>
            <a:endParaRPr lang="en-US" altLang="zh-TW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3: 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未結訂單</a:t>
            </a:r>
            <a:b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4: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母階完工扣帳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5: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相依需求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6: PIR (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單顆長交期</a:t>
            </a:r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7: Liability 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調整</a:t>
            </a:r>
            <a:endParaRPr lang="en-US" altLang="zh-TW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8: 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完工調整</a:t>
            </a:r>
          </a:p>
        </p:txBody>
      </p:sp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45470805-D42A-ECA9-52B6-CD5014F72006}"/>
              </a:ext>
            </a:extLst>
          </p:cNvPr>
          <p:cNvSpPr/>
          <p:nvPr/>
        </p:nvSpPr>
        <p:spPr>
          <a:xfrm>
            <a:off x="540726" y="2759621"/>
            <a:ext cx="1216270" cy="1144164"/>
          </a:xfrm>
          <a:prstGeom prst="wedgeRoundRectCallout">
            <a:avLst>
              <a:gd name="adj1" fmla="val 38394"/>
              <a:gd name="adj2" fmla="val -5570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維度：</a:t>
            </a:r>
            <a:b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期別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配銷通路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物料</a:t>
            </a:r>
          </a:p>
        </p:txBody>
      </p:sp>
      <p:sp>
        <p:nvSpPr>
          <p:cNvPr id="13" name="語音泡泡: 圓角矩形 12">
            <a:extLst>
              <a:ext uri="{FF2B5EF4-FFF2-40B4-BE49-F238E27FC236}">
                <a16:creationId xmlns:a16="http://schemas.microsoft.com/office/drawing/2014/main" id="{EC83BA0B-4CD2-D2BF-029A-21A99311A1BC}"/>
              </a:ext>
            </a:extLst>
          </p:cNvPr>
          <p:cNvSpPr/>
          <p:nvPr/>
        </p:nvSpPr>
        <p:spPr>
          <a:xfrm>
            <a:off x="2861896" y="2759621"/>
            <a:ext cx="1216270" cy="1144164"/>
          </a:xfrm>
          <a:prstGeom prst="wedgeRoundRectCallout">
            <a:avLst>
              <a:gd name="adj1" fmla="val -41124"/>
              <a:gd name="adj2" fmla="val -5800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上期末：</a:t>
            </a:r>
            <a:b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接續上期預採對帳報表結餘計算</a:t>
            </a:r>
          </a:p>
        </p:txBody>
      </p:sp>
    </p:spTree>
    <p:extLst>
      <p:ext uri="{BB962C8B-B14F-4D97-AF65-F5344CB8AC3E}">
        <p14:creationId xmlns:p14="http://schemas.microsoft.com/office/powerpoint/2010/main" val="3827382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DBE57C-EA2A-BC91-62C7-8362BB7D1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1. </a:t>
            </a:r>
            <a:r>
              <a:rPr lang="zh-TW" altLang="en-US"/>
              <a:t>預採帳與 </a:t>
            </a:r>
            <a:r>
              <a:rPr lang="en-US" altLang="zh-TW"/>
              <a:t>Liability </a:t>
            </a:r>
            <a:r>
              <a:rPr lang="zh-TW" altLang="en-US"/>
              <a:t>比較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B85DA2-07C2-EA6E-7B6C-B057C83FE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3154" cy="1875937"/>
          </a:xfrm>
        </p:spPr>
        <p:txBody>
          <a:bodyPr/>
          <a:lstStyle/>
          <a:p>
            <a:r>
              <a:rPr lang="zh-TW" altLang="en-US"/>
              <a:t>預採帳：已接訂單外，人工記錄各種情境下多備的庫存。</a:t>
            </a:r>
            <a:endParaRPr lang="en-US" altLang="zh-TW"/>
          </a:p>
          <a:p>
            <a:r>
              <a:rPr lang="en-US" altLang="zh-TW"/>
              <a:t>Liability</a:t>
            </a:r>
            <a:r>
              <a:rPr lang="zh-TW" altLang="en-US"/>
              <a:t>：未結訂單備的庫存</a:t>
            </a:r>
            <a:r>
              <a:rPr lang="en-US" altLang="zh-TW"/>
              <a:t>+</a:t>
            </a:r>
            <a:r>
              <a:rPr lang="zh-TW" altLang="en-US"/>
              <a:t>多備的庫存，可依各種情境自動計算。</a:t>
            </a:r>
            <a:endParaRPr lang="en-US" altLang="zh-TW"/>
          </a:p>
          <a:p>
            <a:pPr lvl="1"/>
            <a:r>
              <a:rPr lang="zh-TW" altLang="en-US"/>
              <a:t>根據 </a:t>
            </a:r>
            <a:r>
              <a:rPr lang="en-US" altLang="zh-TW"/>
              <a:t>LLC (Low Level Code) </a:t>
            </a:r>
            <a:r>
              <a:rPr lang="zh-TW" altLang="en-US"/>
              <a:t>由最上階循序計算至最底階。</a:t>
            </a:r>
            <a:endParaRPr lang="en-US" altLang="zh-TW"/>
          </a:p>
          <a:p>
            <a:r>
              <a:rPr lang="en-US" altLang="zh-TW"/>
              <a:t>Liability – </a:t>
            </a:r>
            <a:r>
              <a:rPr lang="zh-TW" altLang="en-US"/>
              <a:t>未結訂單需求量 </a:t>
            </a:r>
            <a:r>
              <a:rPr lang="en-US" altLang="zh-TW"/>
              <a:t>= </a:t>
            </a:r>
            <a:r>
              <a:rPr lang="zh-TW" altLang="en-US"/>
              <a:t>可用餘量 </a:t>
            </a:r>
            <a:r>
              <a:rPr lang="en-US" altLang="zh-TW"/>
              <a:t>(</a:t>
            </a:r>
            <a:r>
              <a:rPr lang="zh-TW" altLang="en-US"/>
              <a:t>預採帳</a:t>
            </a:r>
            <a:r>
              <a:rPr lang="en-US" altLang="zh-TW"/>
              <a:t>)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B3BBA1A-5AA3-ECA7-5A46-B112185A7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4480"/>
            <a:ext cx="12192000" cy="1326931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FBB54069-8179-F6FA-C1A1-09FE357599C8}"/>
              </a:ext>
            </a:extLst>
          </p:cNvPr>
          <p:cNvSpPr/>
          <p:nvPr/>
        </p:nvSpPr>
        <p:spPr>
          <a:xfrm>
            <a:off x="9794632" y="5125910"/>
            <a:ext cx="615462" cy="2110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6A0AE59-7436-2694-98F4-BE34109D1AD1}"/>
              </a:ext>
            </a:extLst>
          </p:cNvPr>
          <p:cNvSpPr/>
          <p:nvPr/>
        </p:nvSpPr>
        <p:spPr>
          <a:xfrm>
            <a:off x="11599986" y="5125910"/>
            <a:ext cx="615462" cy="2110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0182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616DB6-B3BF-2594-3ADA-0FD8A7FD0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由 </a:t>
            </a:r>
            <a:r>
              <a:rPr lang="en-US" altLang="zh-TW" dirty="0"/>
              <a:t>Liability </a:t>
            </a:r>
            <a:r>
              <a:rPr lang="zh-TW" altLang="en-US" dirty="0"/>
              <a:t>計算至結餘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7AA2E061-F807-B6F8-5D41-512FEE591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8479"/>
            <a:ext cx="12192000" cy="237833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78B882C-B3F6-E4BD-09BC-D56AF822A96B}"/>
              </a:ext>
            </a:extLst>
          </p:cNvPr>
          <p:cNvSpPr/>
          <p:nvPr/>
        </p:nvSpPr>
        <p:spPr>
          <a:xfrm>
            <a:off x="161900" y="4484077"/>
            <a:ext cx="9328639" cy="940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342900" indent="-342900">
              <a:spcBef>
                <a:spcPts val="600"/>
              </a:spcBef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由本期末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 – L.T.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內需求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L.T.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內結餘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L.T.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內結餘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 L.T.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外需求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zh-TW" altLang="en-US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結餘 </a:t>
            </a:r>
            <a:r>
              <a:rPr lang="en-US" altLang="zh-TW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zh-TW" altLang="en-US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預採帳</a:t>
            </a:r>
            <a:r>
              <a:rPr lang="en-US" altLang="zh-TW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600" dirty="0">
              <a:highlight>
                <a:srgbClr val="00FFFF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06297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A3290B-C40E-23EB-0257-1C16119D0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 </a:t>
            </a:r>
            <a:r>
              <a:rPr lang="zh-TW" altLang="en-US" dirty="0"/>
              <a:t>訂單增量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A4C92B-063A-634E-C23F-E2E7F302E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en-US"/>
              <a:t>訂單需求，包括 </a:t>
            </a:r>
            <a:r>
              <a:rPr lang="en-US" altLang="zh-TW"/>
              <a:t>LL/45D</a:t>
            </a:r>
            <a:r>
              <a:rPr lang="zh-TW" altLang="en-US"/>
              <a:t>、</a:t>
            </a:r>
            <a:r>
              <a:rPr lang="en-US" altLang="zh-TW"/>
              <a:t>SSP</a:t>
            </a:r>
            <a:r>
              <a:rPr lang="zh-TW" altLang="en-US"/>
              <a:t>母單</a:t>
            </a:r>
            <a:r>
              <a:rPr lang="en-US" altLang="zh-TW"/>
              <a:t>/</a:t>
            </a:r>
            <a:r>
              <a:rPr lang="zh-TW" altLang="en-US"/>
              <a:t>子單、</a:t>
            </a:r>
            <a:r>
              <a:rPr lang="en-US" altLang="zh-TW"/>
              <a:t>BLT</a:t>
            </a:r>
            <a:r>
              <a:rPr lang="zh-TW" altLang="en-US"/>
              <a:t>母單</a:t>
            </a:r>
            <a:r>
              <a:rPr lang="en-US" altLang="zh-TW"/>
              <a:t>/</a:t>
            </a:r>
            <a:r>
              <a:rPr lang="zh-TW" altLang="en-US"/>
              <a:t>子單、大貨訂單、單顆長交期物料等。</a:t>
            </a:r>
            <a:endParaRPr lang="en-US" altLang="zh-TW"/>
          </a:p>
          <a:p>
            <a:r>
              <a:rPr lang="zh-TW" altLang="en-US"/>
              <a:t>訂單增量，會增加 </a:t>
            </a:r>
            <a:r>
              <a:rPr lang="en-US" altLang="zh-TW"/>
              <a:t>Liability</a:t>
            </a:r>
            <a:r>
              <a:rPr lang="zh-TW" altLang="en-US"/>
              <a:t>，但不會增加可用餘量 </a:t>
            </a:r>
            <a:r>
              <a:rPr lang="en-US" altLang="zh-TW"/>
              <a:t>(</a:t>
            </a:r>
            <a:r>
              <a:rPr lang="zh-TW" altLang="en-US"/>
              <a:t>預採帳</a:t>
            </a:r>
            <a:r>
              <a:rPr lang="en-US" altLang="zh-TW"/>
              <a:t>)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1E9FA35-2321-42EF-4041-8CE168BE8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3085"/>
            <a:ext cx="12192000" cy="1966452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4DAB1ECF-A555-9836-ABF6-E0072E121C95}"/>
              </a:ext>
            </a:extLst>
          </p:cNvPr>
          <p:cNvSpPr/>
          <p:nvPr/>
        </p:nvSpPr>
        <p:spPr>
          <a:xfrm>
            <a:off x="6453555" y="3936686"/>
            <a:ext cx="615462" cy="2581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736AEF7-1C7B-5F31-3D4B-C04417D1DC19}"/>
              </a:ext>
            </a:extLst>
          </p:cNvPr>
          <p:cNvSpPr/>
          <p:nvPr/>
        </p:nvSpPr>
        <p:spPr>
          <a:xfrm>
            <a:off x="6453555" y="4560257"/>
            <a:ext cx="615462" cy="3253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54894E1E-FBD7-BA8B-06EB-2C1A53BFC1BE}"/>
              </a:ext>
            </a:extLst>
          </p:cNvPr>
          <p:cNvCxnSpPr>
            <a:cxnSpLocks/>
          </p:cNvCxnSpPr>
          <p:nvPr/>
        </p:nvCxnSpPr>
        <p:spPr>
          <a:xfrm>
            <a:off x="10225458" y="4624754"/>
            <a:ext cx="0" cy="4484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81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3DFB81F1-13AB-E6A7-18D2-B339956F8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80326"/>
            <a:ext cx="12192000" cy="259668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6AAC88F-28E2-38B5-5570-772503C3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 </a:t>
            </a:r>
            <a:r>
              <a:rPr lang="zh-TW" altLang="en-US" dirty="0"/>
              <a:t>訂單減量或取消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0E386A-AF77-A08E-4F7C-426B51760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49560"/>
          </a:xfrm>
        </p:spPr>
        <p:txBody>
          <a:bodyPr/>
          <a:lstStyle/>
          <a:p>
            <a:r>
              <a:rPr lang="zh-TW" altLang="en-US"/>
              <a:t>訂單減量，不會減少 </a:t>
            </a:r>
            <a:r>
              <a:rPr lang="en-US" altLang="zh-TW"/>
              <a:t>Liability</a:t>
            </a:r>
            <a:r>
              <a:rPr lang="zh-TW" altLang="en-US"/>
              <a:t>，但可用餘量會增加，客戶新單在此數量內，不會影響 </a:t>
            </a:r>
            <a:r>
              <a:rPr lang="en-US" altLang="zh-TW"/>
              <a:t>Liability</a:t>
            </a:r>
            <a:r>
              <a:rPr lang="zh-TW" altLang="en-US"/>
              <a:t>。</a:t>
            </a:r>
            <a:endParaRPr lang="en-US" altLang="zh-TW"/>
          </a:p>
          <a:p>
            <a:r>
              <a:rPr lang="zh-TW" altLang="en-US"/>
              <a:t>訂單取消，也不會減少 </a:t>
            </a:r>
            <a:r>
              <a:rPr lang="en-US" altLang="zh-TW"/>
              <a:t>Liability</a:t>
            </a:r>
            <a:r>
              <a:rPr lang="zh-TW" altLang="en-US"/>
              <a:t>，同樣客戶可在此數量內下單耗用。</a:t>
            </a:r>
            <a:endParaRPr lang="en-US" altLang="zh-TW"/>
          </a:p>
          <a:p>
            <a:r>
              <a:rPr lang="zh-TW" altLang="en-US"/>
              <a:t>如果最後沒有耗用完畢，將作為請款依據。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E3AD9328-5FB5-BA7B-0A50-EAB34FAA9F28}"/>
              </a:ext>
            </a:extLst>
          </p:cNvPr>
          <p:cNvCxnSpPr/>
          <p:nvPr/>
        </p:nvCxnSpPr>
        <p:spPr>
          <a:xfrm>
            <a:off x="6743699" y="4747846"/>
            <a:ext cx="0" cy="4484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B1D180C4-6B9A-5D4A-D592-0CA970306559}"/>
              </a:ext>
            </a:extLst>
          </p:cNvPr>
          <p:cNvCxnSpPr/>
          <p:nvPr/>
        </p:nvCxnSpPr>
        <p:spPr>
          <a:xfrm>
            <a:off x="6743699" y="5380892"/>
            <a:ext cx="0" cy="4484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EFBBFB95-2629-15F5-E5AD-06625A8E6088}"/>
              </a:ext>
            </a:extLst>
          </p:cNvPr>
          <p:cNvSpPr/>
          <p:nvPr/>
        </p:nvSpPr>
        <p:spPr>
          <a:xfrm>
            <a:off x="6435968" y="4543057"/>
            <a:ext cx="615462" cy="1850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8373D2AE-1E10-44FE-F46E-E0E5FCDA958D}"/>
              </a:ext>
            </a:extLst>
          </p:cNvPr>
          <p:cNvSpPr/>
          <p:nvPr/>
        </p:nvSpPr>
        <p:spPr>
          <a:xfrm>
            <a:off x="6435968" y="5857278"/>
            <a:ext cx="615462" cy="1850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E5BDAB9D-E017-B110-DAE4-188B412E3BC3}"/>
              </a:ext>
            </a:extLst>
          </p:cNvPr>
          <p:cNvCxnSpPr>
            <a:cxnSpLocks/>
            <a:stCxn id="10" idx="6"/>
            <a:endCxn id="16" idx="2"/>
          </p:cNvCxnSpPr>
          <p:nvPr/>
        </p:nvCxnSpPr>
        <p:spPr>
          <a:xfrm>
            <a:off x="7051430" y="4635587"/>
            <a:ext cx="4525108" cy="10910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1D18742D-361B-E420-FB4A-520615A0E026}"/>
              </a:ext>
            </a:extLst>
          </p:cNvPr>
          <p:cNvSpPr/>
          <p:nvPr/>
        </p:nvSpPr>
        <p:spPr>
          <a:xfrm>
            <a:off x="6435968" y="5166554"/>
            <a:ext cx="615462" cy="1991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27D85320-882E-50ED-D06A-A720DB7AF7E3}"/>
              </a:ext>
            </a:extLst>
          </p:cNvPr>
          <p:cNvSpPr/>
          <p:nvPr/>
        </p:nvSpPr>
        <p:spPr>
          <a:xfrm>
            <a:off x="11576538" y="5627058"/>
            <a:ext cx="615462" cy="1991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8C40C79-F8DF-2AF1-C6C0-0C43D29361F1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7051430" y="5280682"/>
            <a:ext cx="4525108" cy="10910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F1B39C9C-E0C9-1131-96F0-EA4BD328A400}"/>
              </a:ext>
            </a:extLst>
          </p:cNvPr>
          <p:cNvSpPr/>
          <p:nvPr/>
        </p:nvSpPr>
        <p:spPr>
          <a:xfrm>
            <a:off x="11576538" y="6272153"/>
            <a:ext cx="615462" cy="1991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2960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219DB5-8198-C842-1C17-7B7629E20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前後期訂單比較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6A7DA1F-9C62-7538-D839-3B00B7F8F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47" y="2379811"/>
            <a:ext cx="5380892" cy="35413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72CD219-C5B9-C5B6-A2BF-7018246C8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554" y="2380600"/>
            <a:ext cx="5956884" cy="35190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C54F40C3-040B-EA10-18A5-4569613F0C37}"/>
              </a:ext>
            </a:extLst>
          </p:cNvPr>
          <p:cNvSpPr txBox="1"/>
          <p:nvPr/>
        </p:nvSpPr>
        <p:spPr>
          <a:xfrm>
            <a:off x="404447" y="1940930"/>
            <a:ext cx="5380892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比較前期訂單，來看訂單的變化：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80120B0-C6AC-8776-316E-C7D5281E04C2}"/>
              </a:ext>
            </a:extLst>
          </p:cNvPr>
          <p:cNvSpPr txBox="1"/>
          <p:nvPr/>
        </p:nvSpPr>
        <p:spPr>
          <a:xfrm>
            <a:off x="5962555" y="1940930"/>
            <a:ext cx="5956883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以原料的角度，來看前後期需求的變化。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1367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2948EF-7138-95AD-9B82-D55999978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3. MOQ/MPQ</a:t>
            </a:r>
            <a:r>
              <a:rPr lang="zh-TW" altLang="en-US"/>
              <a:t>的影響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3EF080-DAF8-22E9-04F4-16C584C0E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09834"/>
          </a:xfrm>
        </p:spPr>
        <p:txBody>
          <a:bodyPr>
            <a:normAutofit/>
          </a:bodyPr>
          <a:lstStyle/>
          <a:p>
            <a:r>
              <a:rPr lang="zh-TW" altLang="en-US" sz="2400"/>
              <a:t>計算 </a:t>
            </a:r>
            <a:r>
              <a:rPr lang="en-US" altLang="zh-TW" sz="2400"/>
              <a:t>Liability </a:t>
            </a:r>
            <a:r>
              <a:rPr lang="zh-TW" altLang="en-US" sz="2400"/>
              <a:t>時，會考慮 </a:t>
            </a:r>
            <a:r>
              <a:rPr lang="en-US" altLang="zh-TW" sz="2400"/>
              <a:t>MOQ/MPQ</a:t>
            </a:r>
          </a:p>
          <a:p>
            <a:r>
              <a:rPr lang="zh-TW" altLang="en-US" sz="2400"/>
              <a:t>因為 </a:t>
            </a:r>
            <a:r>
              <a:rPr lang="en-US" altLang="zh-TW" sz="2400"/>
              <a:t>MOQ </a:t>
            </a:r>
            <a:r>
              <a:rPr lang="zh-TW" altLang="en-US" sz="2400"/>
              <a:t>多備的數量，訂單增量在可用餘量內，不會增加 </a:t>
            </a:r>
            <a:r>
              <a:rPr lang="en-US" altLang="zh-TW" sz="2400"/>
              <a:t>Liability</a:t>
            </a:r>
          </a:p>
          <a:p>
            <a:r>
              <a:rPr lang="zh-TW" altLang="en-US" sz="2400"/>
              <a:t>當訂單增量超出可用餘量時，才會增加 </a:t>
            </a:r>
            <a:r>
              <a:rPr lang="en-US" altLang="zh-TW" sz="2400"/>
              <a:t>Liability</a:t>
            </a:r>
            <a:endParaRPr lang="zh-TW" altLang="en-US" sz="240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3397196-9314-29CD-37A7-F39293D53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2000" cy="2623346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1D06F59E-542B-3551-41C2-2DA16FD787D2}"/>
              </a:ext>
            </a:extLst>
          </p:cNvPr>
          <p:cNvSpPr/>
          <p:nvPr/>
        </p:nvSpPr>
        <p:spPr>
          <a:xfrm>
            <a:off x="6459884" y="4083591"/>
            <a:ext cx="615462" cy="2506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898C93D-F0C7-B444-02C8-7455E3217B57}"/>
              </a:ext>
            </a:extLst>
          </p:cNvPr>
          <p:cNvSpPr/>
          <p:nvPr/>
        </p:nvSpPr>
        <p:spPr>
          <a:xfrm>
            <a:off x="9777749" y="4511509"/>
            <a:ext cx="615462" cy="2525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14B8740F-6366-B885-D728-45FB27F25317}"/>
              </a:ext>
            </a:extLst>
          </p:cNvPr>
          <p:cNvCxnSpPr>
            <a:cxnSpLocks/>
          </p:cNvCxnSpPr>
          <p:nvPr/>
        </p:nvCxnSpPr>
        <p:spPr>
          <a:xfrm>
            <a:off x="7075346" y="4208924"/>
            <a:ext cx="2702403" cy="4288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橢圓 6">
            <a:extLst>
              <a:ext uri="{FF2B5EF4-FFF2-40B4-BE49-F238E27FC236}">
                <a16:creationId xmlns:a16="http://schemas.microsoft.com/office/drawing/2014/main" id="{3EDFD917-B725-7AAA-DE78-9D767610B43B}"/>
              </a:ext>
            </a:extLst>
          </p:cNvPr>
          <p:cNvSpPr/>
          <p:nvPr/>
        </p:nvSpPr>
        <p:spPr>
          <a:xfrm>
            <a:off x="11576538" y="4519670"/>
            <a:ext cx="615462" cy="2525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61AEA4F-19EB-E8E2-8F51-2C14F07A7DC9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10393211" y="4637767"/>
            <a:ext cx="1183327" cy="81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橢圓 13">
            <a:extLst>
              <a:ext uri="{FF2B5EF4-FFF2-40B4-BE49-F238E27FC236}">
                <a16:creationId xmlns:a16="http://schemas.microsoft.com/office/drawing/2014/main" id="{400D79FA-C8CA-13E2-BD91-9BE03F676EB6}"/>
              </a:ext>
            </a:extLst>
          </p:cNvPr>
          <p:cNvSpPr/>
          <p:nvPr/>
        </p:nvSpPr>
        <p:spPr>
          <a:xfrm>
            <a:off x="6459884" y="4758137"/>
            <a:ext cx="615462" cy="2506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35D54AF5-7E2E-CBB0-2EC9-C75C1777C507}"/>
              </a:ext>
            </a:extLst>
          </p:cNvPr>
          <p:cNvSpPr/>
          <p:nvPr/>
        </p:nvSpPr>
        <p:spPr>
          <a:xfrm>
            <a:off x="9777749" y="5186055"/>
            <a:ext cx="615462" cy="2525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C840CA5-0445-01C9-80B3-A2A9F9B9ACDC}"/>
              </a:ext>
            </a:extLst>
          </p:cNvPr>
          <p:cNvCxnSpPr>
            <a:cxnSpLocks/>
          </p:cNvCxnSpPr>
          <p:nvPr/>
        </p:nvCxnSpPr>
        <p:spPr>
          <a:xfrm>
            <a:off x="7075346" y="4883470"/>
            <a:ext cx="2702403" cy="4288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64169262-2E24-5A2F-8FD2-677A02901A4A}"/>
              </a:ext>
            </a:extLst>
          </p:cNvPr>
          <p:cNvSpPr/>
          <p:nvPr/>
        </p:nvSpPr>
        <p:spPr>
          <a:xfrm>
            <a:off x="11576538" y="5194216"/>
            <a:ext cx="615462" cy="2525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17A6621-E109-9D80-9293-107D61C2285D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10393211" y="5312313"/>
            <a:ext cx="1183327" cy="81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951EDDCF-0E90-09F1-E252-D29244B8619B}"/>
              </a:ext>
            </a:extLst>
          </p:cNvPr>
          <p:cNvSpPr/>
          <p:nvPr/>
        </p:nvSpPr>
        <p:spPr>
          <a:xfrm>
            <a:off x="6459884" y="5380521"/>
            <a:ext cx="615462" cy="2506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095F7BC-C483-A05C-C772-46A900CE33E0}"/>
              </a:ext>
            </a:extLst>
          </p:cNvPr>
          <p:cNvSpPr/>
          <p:nvPr/>
        </p:nvSpPr>
        <p:spPr>
          <a:xfrm>
            <a:off x="9777749" y="5808439"/>
            <a:ext cx="615462" cy="2525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1F3A7566-18EC-CB21-041F-8B3F143AAE32}"/>
              </a:ext>
            </a:extLst>
          </p:cNvPr>
          <p:cNvCxnSpPr>
            <a:cxnSpLocks/>
          </p:cNvCxnSpPr>
          <p:nvPr/>
        </p:nvCxnSpPr>
        <p:spPr>
          <a:xfrm>
            <a:off x="7075346" y="5505854"/>
            <a:ext cx="2702403" cy="4288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9EE3024A-E15D-9C90-4B90-97B0351B135C}"/>
              </a:ext>
            </a:extLst>
          </p:cNvPr>
          <p:cNvSpPr/>
          <p:nvPr/>
        </p:nvSpPr>
        <p:spPr>
          <a:xfrm>
            <a:off x="11576538" y="5816600"/>
            <a:ext cx="615462" cy="2525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0ADBD389-F056-D61E-87BD-E47B2F6DD0FF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10393211" y="5934697"/>
            <a:ext cx="1183327" cy="81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378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393AA-165D-E95E-C6EE-73A745F25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A0ADA4-0896-561C-6DB2-53753940E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由本期初計算至 </a:t>
            </a:r>
            <a:r>
              <a:rPr lang="en-US" altLang="zh-TW" dirty="0"/>
              <a:t>Liability</a:t>
            </a:r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5E69CA-7F99-829C-B784-CABDA46967A4}"/>
              </a:ext>
            </a:extLst>
          </p:cNvPr>
          <p:cNvSpPr/>
          <p:nvPr/>
        </p:nvSpPr>
        <p:spPr>
          <a:xfrm>
            <a:off x="161900" y="4137081"/>
            <a:ext cx="9328639" cy="2642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分製造及採購件，計算公式不同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製造件：訂單需求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本期初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缺料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缺料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 0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，則缺料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zh-TW" altLang="en-US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展</a:t>
            </a:r>
            <a:r>
              <a:rPr lang="en-US" altLang="zh-TW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BOM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，計算子階相依需求。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本期末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 =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本期初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採購件：相依需求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本期初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缺料</a:t>
            </a:r>
            <a:endParaRPr lang="en-US" altLang="zh-TW" sz="1600" dirty="0">
              <a:highlight>
                <a:srgbClr val="00FFFF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缺料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 0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，則考慮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MOQ/MPQ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計算本期備料量</a:t>
            </a:r>
            <a:endParaRPr lang="en-US" altLang="zh-TW" sz="1600" dirty="0">
              <a:highlight>
                <a:srgbClr val="00FFFF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本期末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 =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本期初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本期備料量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2328ED6-F988-0737-FB03-56E22B662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6495"/>
            <a:ext cx="12192000" cy="207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735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D41234-38CB-BEE5-CC2B-73EA3665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5. Liability </a:t>
            </a:r>
            <a:r>
              <a:rPr lang="zh-TW" altLang="en-US"/>
              <a:t>因完工轉移至半成品、成品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921B3C-FEC1-9480-B017-C2FA3C8C6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80626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依 </a:t>
            </a:r>
            <a:r>
              <a:rPr lang="en-US" altLang="zh-TW" dirty="0"/>
              <a:t>MTO </a:t>
            </a:r>
            <a:r>
              <a:rPr lang="zh-TW" altLang="en-US" dirty="0"/>
              <a:t>工單連結銷售訂單，歸屬客戶</a:t>
            </a:r>
            <a:r>
              <a:rPr lang="en-US" altLang="zh-TW" dirty="0"/>
              <a:t>/</a:t>
            </a:r>
            <a:r>
              <a:rPr lang="zh-TW" altLang="en-US" dirty="0"/>
              <a:t>線別。</a:t>
            </a:r>
            <a:endParaRPr lang="en-US" altLang="zh-TW" dirty="0"/>
          </a:p>
          <a:p>
            <a:r>
              <a:rPr lang="en-US" altLang="zh-TW" dirty="0"/>
              <a:t>MTO</a:t>
            </a:r>
            <a:r>
              <a:rPr lang="zh-TW" altLang="en-US" dirty="0"/>
              <a:t>完工，</a:t>
            </a:r>
            <a:r>
              <a:rPr lang="en-US" altLang="zh-TW" dirty="0"/>
              <a:t>Liability </a:t>
            </a:r>
            <a:r>
              <a:rPr lang="zh-TW" altLang="en-US" dirty="0"/>
              <a:t>只是對象移轉，總量不變</a:t>
            </a:r>
            <a:endParaRPr lang="en-US" altLang="zh-TW" dirty="0"/>
          </a:p>
          <a:p>
            <a:pPr lvl="1"/>
            <a:r>
              <a:rPr lang="zh-TW" altLang="en-US" dirty="0"/>
              <a:t>半成品完工：本階增加，子階減少。</a:t>
            </a:r>
            <a:r>
              <a:rPr lang="en-US" altLang="zh-TW" dirty="0"/>
              <a:t>(</a:t>
            </a:r>
            <a:r>
              <a:rPr lang="zh-TW" altLang="en-US" dirty="0"/>
              <a:t>整套扣帳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成品完工：本階增加，子階減少，若子階不足，則斷續展階扣除。</a:t>
            </a:r>
            <a:endParaRPr lang="en-US" altLang="zh-TW" dirty="0"/>
          </a:p>
          <a:p>
            <a:r>
              <a:rPr lang="zh-TW" altLang="en-US" dirty="0"/>
              <a:t>工單因 </a:t>
            </a:r>
            <a:r>
              <a:rPr lang="en-US" altLang="zh-TW" dirty="0"/>
              <a:t>MCN </a:t>
            </a:r>
            <a:r>
              <a:rPr lang="zh-TW" altLang="en-US" dirty="0"/>
              <a:t>等切換料，依實際內容扣減子階舊料或新料的 </a:t>
            </a:r>
            <a:r>
              <a:rPr lang="en-US" altLang="zh-TW" dirty="0"/>
              <a:t>Liability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BF61930-171F-1657-3A60-A888A03B8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7926"/>
            <a:ext cx="12192000" cy="1980626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D5CA8DB9-842B-6B99-864C-5B610BA4E45D}"/>
              </a:ext>
            </a:extLst>
          </p:cNvPr>
          <p:cNvSpPr/>
          <p:nvPr/>
        </p:nvSpPr>
        <p:spPr>
          <a:xfrm>
            <a:off x="3094892" y="4580792"/>
            <a:ext cx="615462" cy="6506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5E363C5-DB64-9B9A-CF8F-CE27B4FA88B7}"/>
              </a:ext>
            </a:extLst>
          </p:cNvPr>
          <p:cNvSpPr/>
          <p:nvPr/>
        </p:nvSpPr>
        <p:spPr>
          <a:xfrm>
            <a:off x="5873261" y="4592923"/>
            <a:ext cx="615462" cy="6506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05EE4FB-804C-47C9-C26D-B72C07B1D149}"/>
              </a:ext>
            </a:extLst>
          </p:cNvPr>
          <p:cNvCxnSpPr>
            <a:cxnSpLocks/>
          </p:cNvCxnSpPr>
          <p:nvPr/>
        </p:nvCxnSpPr>
        <p:spPr>
          <a:xfrm>
            <a:off x="3710354" y="4809392"/>
            <a:ext cx="218049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橢圓 13">
            <a:extLst>
              <a:ext uri="{FF2B5EF4-FFF2-40B4-BE49-F238E27FC236}">
                <a16:creationId xmlns:a16="http://schemas.microsoft.com/office/drawing/2014/main" id="{9D20CABD-F3B7-7AF4-D2A2-B4332062B079}"/>
              </a:ext>
            </a:extLst>
          </p:cNvPr>
          <p:cNvSpPr/>
          <p:nvPr/>
        </p:nvSpPr>
        <p:spPr>
          <a:xfrm>
            <a:off x="5873261" y="5257920"/>
            <a:ext cx="615462" cy="6506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7256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A4FD0D-F781-896A-42E9-C7C1AD34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 Liability </a:t>
            </a:r>
            <a:r>
              <a:rPr lang="zh-TW" altLang="en-US" dirty="0"/>
              <a:t>出貨除帳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AFF174-C8D1-9119-3329-62EA7224E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03803"/>
          </a:xfrm>
        </p:spPr>
        <p:txBody>
          <a:bodyPr/>
          <a:lstStyle/>
          <a:p>
            <a:r>
              <a:rPr lang="en-US" altLang="zh-TW"/>
              <a:t>Liability</a:t>
            </a:r>
            <a:r>
              <a:rPr lang="zh-TW" altLang="en-US"/>
              <a:t> 因出貨減少，未結訂單也會同步減少。</a:t>
            </a:r>
            <a:endParaRPr lang="en-US" altLang="zh-TW"/>
          </a:p>
          <a:p>
            <a:r>
              <a:rPr lang="zh-TW" altLang="en-US"/>
              <a:t>出貨不影響可用餘量。</a:t>
            </a:r>
            <a:endParaRPr lang="en-US" altLang="zh-TW"/>
          </a:p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67697DB-96C6-54B6-225C-A3C7384FF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2000" cy="1981692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E07670DC-B0A9-CDED-BC55-A22CA5D27CF3}"/>
              </a:ext>
            </a:extLst>
          </p:cNvPr>
          <p:cNvCxnSpPr>
            <a:cxnSpLocks/>
            <a:stCxn id="10" idx="6"/>
            <a:endCxn id="9" idx="2"/>
          </p:cNvCxnSpPr>
          <p:nvPr/>
        </p:nvCxnSpPr>
        <p:spPr>
          <a:xfrm>
            <a:off x="4809392" y="4864985"/>
            <a:ext cx="104335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65A9F450-88FB-1293-2E26-28D1616AB891}"/>
              </a:ext>
            </a:extLst>
          </p:cNvPr>
          <p:cNvSpPr/>
          <p:nvPr/>
        </p:nvSpPr>
        <p:spPr>
          <a:xfrm>
            <a:off x="5852745" y="4765412"/>
            <a:ext cx="615462" cy="1991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D4A2BF21-CA96-BE4B-D291-C84CF13AF550}"/>
              </a:ext>
            </a:extLst>
          </p:cNvPr>
          <p:cNvSpPr/>
          <p:nvPr/>
        </p:nvSpPr>
        <p:spPr>
          <a:xfrm>
            <a:off x="4193930" y="4765412"/>
            <a:ext cx="615462" cy="1991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172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BE97A5-487F-6CCC-A895-4C77A580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由上期末計算本期初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9ED3F3-E279-48BA-B3AF-60E5574D2EFC}"/>
              </a:ext>
            </a:extLst>
          </p:cNvPr>
          <p:cNvSpPr/>
          <p:nvPr/>
        </p:nvSpPr>
        <p:spPr>
          <a:xfrm>
            <a:off x="158665" y="4196950"/>
            <a:ext cx="9642231" cy="137892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上期末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 PIR +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本期完工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完工調整 </a:t>
            </a:r>
            <a:r>
              <a:rPr lang="en-US" altLang="zh-TW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– </a:t>
            </a:r>
            <a:r>
              <a:rPr lang="zh-TW" altLang="en-US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本期出貨 </a:t>
            </a:r>
            <a:r>
              <a:rPr lang="en-US" altLang="zh-TW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– </a:t>
            </a:r>
            <a:r>
              <a:rPr lang="zh-TW" altLang="en-US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本期母階完工扣帳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本期初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(Liability)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展子階除帳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：本期完工數量，代表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已經由原料變成半成品，或成品。故，半成品或成品的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時，要扣除子階的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69ABB97-1DE2-DEB1-FD44-F38D1C066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12192000" cy="250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11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A3313D-BD55-8753-DB82-6C5CF36D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 </a:t>
            </a:r>
            <a:r>
              <a:rPr lang="zh-TW" altLang="en-US" dirty="0"/>
              <a:t>依備料日期計算帳齡，作為請款依據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B36EBD-F3E8-3FC3-EA7D-8D21238A4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9095EDA-1145-C9CA-6520-0FAFB79DA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6903"/>
            <a:ext cx="12192000" cy="5211097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4A5AAC42-8D3A-8B3D-7919-016C4DFDCAD7}"/>
              </a:ext>
            </a:extLst>
          </p:cNvPr>
          <p:cNvSpPr/>
          <p:nvPr/>
        </p:nvSpPr>
        <p:spPr>
          <a:xfrm>
            <a:off x="9246576" y="2734388"/>
            <a:ext cx="615462" cy="1991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6B636540-2AFB-0CA5-74C2-963D12920CC0}"/>
              </a:ext>
            </a:extLst>
          </p:cNvPr>
          <p:cNvSpPr/>
          <p:nvPr/>
        </p:nvSpPr>
        <p:spPr>
          <a:xfrm>
            <a:off x="9246576" y="4053305"/>
            <a:ext cx="615462" cy="1991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550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B31073-3565-EB81-4EA4-7C46EDD62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由</a:t>
            </a:r>
            <a:r>
              <a:rPr lang="en-US" altLang="zh-TW" dirty="0"/>
              <a:t>“</a:t>
            </a:r>
            <a:r>
              <a:rPr lang="zh-TW" altLang="en-US" dirty="0"/>
              <a:t>本期備料量</a:t>
            </a:r>
            <a:r>
              <a:rPr lang="en-US" altLang="zh-TW" dirty="0"/>
              <a:t>”</a:t>
            </a:r>
            <a:r>
              <a:rPr lang="zh-TW" altLang="en-US" dirty="0"/>
              <a:t> 可知到期別</a:t>
            </a:r>
            <a:r>
              <a:rPr lang="en-US" altLang="zh-TW" dirty="0"/>
              <a:t>(</a:t>
            </a:r>
            <a:r>
              <a:rPr lang="zh-TW" altLang="en-US" dirty="0"/>
              <a:t>備料日期</a:t>
            </a:r>
            <a:r>
              <a:rPr lang="en-US" altLang="zh-TW" dirty="0"/>
              <a:t>)</a:t>
            </a:r>
            <a:r>
              <a:rPr lang="zh-TW" altLang="en-US" dirty="0"/>
              <a:t>，再考慮 </a:t>
            </a:r>
            <a:r>
              <a:rPr lang="en-US" altLang="zh-TW" dirty="0"/>
              <a:t>Lead Time</a:t>
            </a:r>
            <a:r>
              <a:rPr lang="zh-TW" altLang="en-US" dirty="0"/>
              <a:t>，可以計算在庫天數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8DD4D83-2C6E-3635-EDAB-44B434BAC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2415995"/>
            <a:ext cx="12193161" cy="3091426"/>
          </a:xfrm>
        </p:spPr>
      </p:pic>
    </p:spTree>
    <p:extLst>
      <p:ext uri="{BB962C8B-B14F-4D97-AF65-F5344CB8AC3E}">
        <p14:creationId xmlns:p14="http://schemas.microsoft.com/office/powerpoint/2010/main" val="2067004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圖: 結束點 5">
            <a:extLst>
              <a:ext uri="{FF2B5EF4-FFF2-40B4-BE49-F238E27FC236}">
                <a16:creationId xmlns:a16="http://schemas.microsoft.com/office/drawing/2014/main" id="{4D8DBACA-0423-9B29-A8D6-221F3236F6B9}"/>
              </a:ext>
            </a:extLst>
          </p:cNvPr>
          <p:cNvSpPr/>
          <p:nvPr/>
        </p:nvSpPr>
        <p:spPr>
          <a:xfrm>
            <a:off x="5628237" y="644758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程式開始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67A489-B93C-A7C1-F725-E8FF9DFC7C24}"/>
              </a:ext>
            </a:extLst>
          </p:cNvPr>
          <p:cNvSpPr/>
          <p:nvPr/>
        </p:nvSpPr>
        <p:spPr>
          <a:xfrm>
            <a:off x="1609632" y="1341897"/>
            <a:ext cx="1403696" cy="633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PIR (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單顆長交期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(17_4, TYPE=6)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1E889D-490F-D0FF-D4A1-0CB1DF54E5A5}"/>
              </a:ext>
            </a:extLst>
          </p:cNvPr>
          <p:cNvSpPr/>
          <p:nvPr/>
        </p:nvSpPr>
        <p:spPr>
          <a:xfrm>
            <a:off x="3138165" y="1341897"/>
            <a:ext cx="1403696" cy="633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未結訂單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(17_2)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213433-F1CB-C7C6-6595-019F49C0E126}"/>
              </a:ext>
            </a:extLst>
          </p:cNvPr>
          <p:cNvSpPr/>
          <p:nvPr/>
        </p:nvSpPr>
        <p:spPr>
          <a:xfrm>
            <a:off x="4666698" y="1341897"/>
            <a:ext cx="1403696" cy="633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工單完工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委外採購完工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(17_4,TYPE=1)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2A6B54-242B-835D-CF2A-6B65534A44F3}"/>
              </a:ext>
            </a:extLst>
          </p:cNvPr>
          <p:cNvSpPr/>
          <p:nvPr/>
        </p:nvSpPr>
        <p:spPr>
          <a:xfrm>
            <a:off x="6195231" y="1341897"/>
            <a:ext cx="1403696" cy="633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出貨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(17_4,TYPE=2)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F29389C6-7870-69D9-1C86-12EE4F2AFBF5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4000766" y="-742775"/>
            <a:ext cx="395387" cy="377395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E113AF73-0806-A902-29CC-D38639575F88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5400000">
            <a:off x="4765032" y="21491"/>
            <a:ext cx="395387" cy="22454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71C355FF-0FEE-B715-6120-3D0986A2BF2F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rot="5400000">
            <a:off x="5529299" y="785758"/>
            <a:ext cx="395387" cy="7168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38F8D448-7AD2-2B6B-7215-BF9B947E353C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rot="16200000" flipH="1">
            <a:off x="6293565" y="738382"/>
            <a:ext cx="395387" cy="81164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9089F020-5ADF-37B0-9846-3C6B1A774C9A}"/>
              </a:ext>
            </a:extLst>
          </p:cNvPr>
          <p:cNvSpPr/>
          <p:nvPr/>
        </p:nvSpPr>
        <p:spPr>
          <a:xfrm>
            <a:off x="5441957" y="2445482"/>
            <a:ext cx="1403696" cy="633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總表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(17_5)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AD0105D-6441-CAED-1307-A77709EDC8EB}"/>
              </a:ext>
            </a:extLst>
          </p:cNvPr>
          <p:cNvSpPr/>
          <p:nvPr/>
        </p:nvSpPr>
        <p:spPr>
          <a:xfrm>
            <a:off x="6413232" y="3384883"/>
            <a:ext cx="1403696" cy="633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需求與本期初沖銷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(17_6)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42328A9-E347-FE08-069B-E727AFD812E3}"/>
              </a:ext>
            </a:extLst>
          </p:cNvPr>
          <p:cNvSpPr/>
          <p:nvPr/>
        </p:nvSpPr>
        <p:spPr>
          <a:xfrm>
            <a:off x="6413232" y="4221252"/>
            <a:ext cx="1403696" cy="633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展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</a:t>
            </a:r>
          </a:p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(17_4,TYPE=5)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B43B32-9BA3-4363-670A-10D44AAE53E8}"/>
              </a:ext>
            </a:extLst>
          </p:cNvPr>
          <p:cNvSpPr/>
          <p:nvPr/>
        </p:nvSpPr>
        <p:spPr>
          <a:xfrm>
            <a:off x="4402833" y="3910659"/>
            <a:ext cx="1403696" cy="633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展子階扣帳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(17_4, TYPE=4)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98CD2D3-2067-2E42-B688-7CB297F8B604}"/>
              </a:ext>
            </a:extLst>
          </p:cNvPr>
          <p:cNvSpPr/>
          <p:nvPr/>
        </p:nvSpPr>
        <p:spPr>
          <a:xfrm>
            <a:off x="2997428" y="5264701"/>
            <a:ext cx="1403696" cy="633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Next LLC</a:t>
            </a:r>
          </a:p>
        </p:txBody>
      </p:sp>
      <p:sp>
        <p:nvSpPr>
          <p:cNvPr id="38" name="流程圖: 結束點 37">
            <a:extLst>
              <a:ext uri="{FF2B5EF4-FFF2-40B4-BE49-F238E27FC236}">
                <a16:creationId xmlns:a16="http://schemas.microsoft.com/office/drawing/2014/main" id="{4865B091-D121-4EFF-9341-C731BC9BFC8D}"/>
              </a:ext>
            </a:extLst>
          </p:cNvPr>
          <p:cNvSpPr/>
          <p:nvPr/>
        </p:nvSpPr>
        <p:spPr>
          <a:xfrm>
            <a:off x="5641790" y="6204588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程式結束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3537CC3-3AC6-5608-118B-1B9435B695F3}"/>
              </a:ext>
            </a:extLst>
          </p:cNvPr>
          <p:cNvSpPr/>
          <p:nvPr/>
        </p:nvSpPr>
        <p:spPr>
          <a:xfrm>
            <a:off x="5139143" y="10394799"/>
            <a:ext cx="1403696" cy="633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未結訂單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(17_2)</a:t>
            </a:r>
          </a:p>
        </p:txBody>
      </p:sp>
      <p:sp>
        <p:nvSpPr>
          <p:cNvPr id="40" name="流程圖: 決策 39">
            <a:extLst>
              <a:ext uri="{FF2B5EF4-FFF2-40B4-BE49-F238E27FC236}">
                <a16:creationId xmlns:a16="http://schemas.microsoft.com/office/drawing/2014/main" id="{59E96313-942F-7760-106F-4FF486924BBD}"/>
              </a:ext>
            </a:extLst>
          </p:cNvPr>
          <p:cNvSpPr/>
          <p:nvPr/>
        </p:nvSpPr>
        <p:spPr>
          <a:xfrm>
            <a:off x="5637009" y="5274429"/>
            <a:ext cx="9144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LLC=020?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81EBBB77-D9A6-FC04-BA95-CD19050A12BF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 rot="5400000">
            <a:off x="5208597" y="2975451"/>
            <a:ext cx="831292" cy="1039124"/>
          </a:xfrm>
          <a:prstGeom prst="bentConnector3">
            <a:avLst>
              <a:gd name="adj1" fmla="val 184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接點: 肘形 41">
            <a:extLst>
              <a:ext uri="{FF2B5EF4-FFF2-40B4-BE49-F238E27FC236}">
                <a16:creationId xmlns:a16="http://schemas.microsoft.com/office/drawing/2014/main" id="{FD698405-CBCB-B686-D51B-A1B9D046866E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rot="5400000">
            <a:off x="7013838" y="4120010"/>
            <a:ext cx="202484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接點: 肘形 42">
            <a:extLst>
              <a:ext uri="{FF2B5EF4-FFF2-40B4-BE49-F238E27FC236}">
                <a16:creationId xmlns:a16="http://schemas.microsoft.com/office/drawing/2014/main" id="{46BA02BD-073D-5F70-4B65-2E173316319B}"/>
              </a:ext>
            </a:extLst>
          </p:cNvPr>
          <p:cNvCxnSpPr>
            <a:cxnSpLocks/>
            <a:stCxn id="27" idx="2"/>
            <a:endCxn id="40" idx="0"/>
          </p:cNvCxnSpPr>
          <p:nvPr/>
        </p:nvCxnSpPr>
        <p:spPr>
          <a:xfrm rot="5400000">
            <a:off x="6394999" y="4554348"/>
            <a:ext cx="419292" cy="102087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接點: 肘形 43">
            <a:extLst>
              <a:ext uri="{FF2B5EF4-FFF2-40B4-BE49-F238E27FC236}">
                <a16:creationId xmlns:a16="http://schemas.microsoft.com/office/drawing/2014/main" id="{8788C502-B626-72F6-9973-C7E4453D792D}"/>
              </a:ext>
            </a:extLst>
          </p:cNvPr>
          <p:cNvCxnSpPr>
            <a:cxnSpLocks/>
            <a:stCxn id="29" idx="0"/>
            <a:endCxn id="25" idx="1"/>
          </p:cNvCxnSpPr>
          <p:nvPr/>
        </p:nvCxnSpPr>
        <p:spPr>
          <a:xfrm rot="5400000" flipH="1" flipV="1">
            <a:off x="3319478" y="3142223"/>
            <a:ext cx="2502276" cy="174268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AB7D351E-300D-F3BC-2598-97F99FA51A68}"/>
              </a:ext>
            </a:extLst>
          </p:cNvPr>
          <p:cNvCxnSpPr>
            <a:cxnSpLocks/>
            <a:stCxn id="40" idx="1"/>
            <a:endCxn id="29" idx="3"/>
          </p:cNvCxnSpPr>
          <p:nvPr/>
        </p:nvCxnSpPr>
        <p:spPr>
          <a:xfrm rot="10800000" flipV="1">
            <a:off x="4401125" y="5580752"/>
            <a:ext cx="1235885" cy="89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接點: 肘形 51">
            <a:extLst>
              <a:ext uri="{FF2B5EF4-FFF2-40B4-BE49-F238E27FC236}">
                <a16:creationId xmlns:a16="http://schemas.microsoft.com/office/drawing/2014/main" id="{383E22E5-429B-76A2-93D7-3688FB91226C}"/>
              </a:ext>
            </a:extLst>
          </p:cNvPr>
          <p:cNvCxnSpPr>
            <a:cxnSpLocks/>
            <a:stCxn id="28" idx="2"/>
            <a:endCxn id="40" idx="0"/>
          </p:cNvCxnSpPr>
          <p:nvPr/>
        </p:nvCxnSpPr>
        <p:spPr>
          <a:xfrm rot="16200000" flipH="1">
            <a:off x="5234503" y="4414722"/>
            <a:ext cx="729885" cy="989528"/>
          </a:xfrm>
          <a:prstGeom prst="bentConnector3">
            <a:avLst>
              <a:gd name="adj1" fmla="val 713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接點: 肘形 56">
            <a:extLst>
              <a:ext uri="{FF2B5EF4-FFF2-40B4-BE49-F238E27FC236}">
                <a16:creationId xmlns:a16="http://schemas.microsoft.com/office/drawing/2014/main" id="{DBC69FBD-3D19-6C83-C675-025991EF65C0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rot="16200000" flipH="1">
            <a:off x="6476684" y="2746487"/>
            <a:ext cx="305516" cy="9712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接點: 肘形 69">
            <a:extLst>
              <a:ext uri="{FF2B5EF4-FFF2-40B4-BE49-F238E27FC236}">
                <a16:creationId xmlns:a16="http://schemas.microsoft.com/office/drawing/2014/main" id="{3FA5254C-C01F-B0E8-CF15-1FE6DD0F179E}"/>
              </a:ext>
            </a:extLst>
          </p:cNvPr>
          <p:cNvCxnSpPr>
            <a:cxnSpLocks/>
            <a:stCxn id="40" idx="2"/>
            <a:endCxn id="38" idx="0"/>
          </p:cNvCxnSpPr>
          <p:nvPr/>
        </p:nvCxnSpPr>
        <p:spPr>
          <a:xfrm rot="16200000" flipH="1">
            <a:off x="5937844" y="6043441"/>
            <a:ext cx="317511" cy="47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接點: 肘形 72">
            <a:extLst>
              <a:ext uri="{FF2B5EF4-FFF2-40B4-BE49-F238E27FC236}">
                <a16:creationId xmlns:a16="http://schemas.microsoft.com/office/drawing/2014/main" id="{E49116A6-C5F5-D6F2-E4EE-727B6578C5DC}"/>
              </a:ext>
            </a:extLst>
          </p:cNvPr>
          <p:cNvCxnSpPr>
            <a:cxnSpLocks/>
            <a:stCxn id="7" idx="2"/>
            <a:endCxn id="25" idx="0"/>
          </p:cNvCxnSpPr>
          <p:nvPr/>
        </p:nvCxnSpPr>
        <p:spPr>
          <a:xfrm rot="16200000" flipH="1">
            <a:off x="3992792" y="294469"/>
            <a:ext cx="469700" cy="38323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接點: 肘形 75">
            <a:extLst>
              <a:ext uri="{FF2B5EF4-FFF2-40B4-BE49-F238E27FC236}">
                <a16:creationId xmlns:a16="http://schemas.microsoft.com/office/drawing/2014/main" id="{06EC30DB-8935-173D-4FA4-FC104A85BB52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rot="16200000" flipH="1">
            <a:off x="4757059" y="1058736"/>
            <a:ext cx="469700" cy="23037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接點: 肘形 76">
            <a:extLst>
              <a:ext uri="{FF2B5EF4-FFF2-40B4-BE49-F238E27FC236}">
                <a16:creationId xmlns:a16="http://schemas.microsoft.com/office/drawing/2014/main" id="{D28CB917-8D8A-CB71-862B-9B54DE10D105}"/>
              </a:ext>
            </a:extLst>
          </p:cNvPr>
          <p:cNvCxnSpPr>
            <a:cxnSpLocks/>
            <a:stCxn id="9" idx="2"/>
            <a:endCxn id="25" idx="0"/>
          </p:cNvCxnSpPr>
          <p:nvPr/>
        </p:nvCxnSpPr>
        <p:spPr>
          <a:xfrm rot="16200000" flipH="1">
            <a:off x="5521325" y="1823002"/>
            <a:ext cx="469700" cy="7752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接點: 肘形 77">
            <a:extLst>
              <a:ext uri="{FF2B5EF4-FFF2-40B4-BE49-F238E27FC236}">
                <a16:creationId xmlns:a16="http://schemas.microsoft.com/office/drawing/2014/main" id="{385D80B9-F4D8-9C90-9C71-F3029ECF83F4}"/>
              </a:ext>
            </a:extLst>
          </p:cNvPr>
          <p:cNvCxnSpPr>
            <a:cxnSpLocks/>
            <a:stCxn id="10" idx="2"/>
            <a:endCxn id="25" idx="0"/>
          </p:cNvCxnSpPr>
          <p:nvPr/>
        </p:nvCxnSpPr>
        <p:spPr>
          <a:xfrm rot="5400000">
            <a:off x="6285592" y="1833995"/>
            <a:ext cx="469700" cy="7532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橢圓 1">
            <a:extLst>
              <a:ext uri="{FF2B5EF4-FFF2-40B4-BE49-F238E27FC236}">
                <a16:creationId xmlns:a16="http://schemas.microsoft.com/office/drawing/2014/main" id="{00B26D1E-78D4-895E-F512-5A7DA9B6D8E8}"/>
              </a:ext>
            </a:extLst>
          </p:cNvPr>
          <p:cNvSpPr/>
          <p:nvPr/>
        </p:nvSpPr>
        <p:spPr>
          <a:xfrm>
            <a:off x="6135192" y="4148344"/>
            <a:ext cx="1938099" cy="78348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EA33A5-DE69-9E91-B0C8-8222A6960B89}"/>
              </a:ext>
            </a:extLst>
          </p:cNvPr>
          <p:cNvSpPr/>
          <p:nvPr/>
        </p:nvSpPr>
        <p:spPr>
          <a:xfrm>
            <a:off x="9641815" y="1341897"/>
            <a:ext cx="1403696" cy="633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Liability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調整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(17_3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TYPE=8)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7E35A9-EB84-37F5-87D0-478189942F9E}"/>
              </a:ext>
            </a:extLst>
          </p:cNvPr>
          <p:cNvSpPr/>
          <p:nvPr/>
        </p:nvSpPr>
        <p:spPr>
          <a:xfrm>
            <a:off x="7918523" y="1341897"/>
            <a:ext cx="1403696" cy="633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完工調整</a:t>
            </a:r>
            <a:b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(17_3, TYPE= 7)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C5EA3D87-C6EA-9211-5CAE-1A47055033A7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7155211" y="-123264"/>
            <a:ext cx="395387" cy="25349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6CBD5FFC-8C5A-C212-D4F1-41067E34A96A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16200000" flipH="1">
            <a:off x="8016857" y="-984910"/>
            <a:ext cx="395387" cy="42582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0AC35BD6-3169-2C36-8F92-D5B8B2C02706}"/>
              </a:ext>
            </a:extLst>
          </p:cNvPr>
          <p:cNvCxnSpPr>
            <a:cxnSpLocks/>
            <a:stCxn id="14" idx="2"/>
            <a:endCxn id="25" idx="0"/>
          </p:cNvCxnSpPr>
          <p:nvPr/>
        </p:nvCxnSpPr>
        <p:spPr>
          <a:xfrm rot="5400000">
            <a:off x="7147238" y="972349"/>
            <a:ext cx="469700" cy="24765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C89C60AF-A02A-4EB6-57D9-8AD129D3CDB0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 rot="5400000">
            <a:off x="8008884" y="110703"/>
            <a:ext cx="469700" cy="41998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橢圓 34">
            <a:extLst>
              <a:ext uri="{FF2B5EF4-FFF2-40B4-BE49-F238E27FC236}">
                <a16:creationId xmlns:a16="http://schemas.microsoft.com/office/drawing/2014/main" id="{67B5618E-88EF-824D-B6E0-57582A8D0A11}"/>
              </a:ext>
            </a:extLst>
          </p:cNvPr>
          <p:cNvSpPr/>
          <p:nvPr/>
        </p:nvSpPr>
        <p:spPr>
          <a:xfrm>
            <a:off x="4135631" y="3834968"/>
            <a:ext cx="1938099" cy="78348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1075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200" dirty="0" smtClean="0"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98767c-58d1-4415-9ec5-59f5f2b8349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1E932B92ED76C8449CDA62695A7C2944" ma:contentTypeVersion="14" ma:contentTypeDescription="建立新的文件。" ma:contentTypeScope="" ma:versionID="b12491fcf88f9eacdc0f1efc4b91f869">
  <xsd:schema xmlns:xsd="http://www.w3.org/2001/XMLSchema" xmlns:xs="http://www.w3.org/2001/XMLSchema" xmlns:p="http://schemas.microsoft.com/office/2006/metadata/properties" xmlns:ns2="7e33fa31-02da-44e4-816d-af01320125eb" xmlns:ns3="7298767c-58d1-4415-9ec5-59f5f2b8349e" targetNamespace="http://schemas.microsoft.com/office/2006/metadata/properties" ma:root="true" ma:fieldsID="610911a4c18cd2a9e25a17fdc57cbb79" ns2:_="" ns3:_="">
    <xsd:import namespace="7e33fa31-02da-44e4-816d-af01320125eb"/>
    <xsd:import namespace="7298767c-58d1-4415-9ec5-59f5f2b8349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33fa31-02da-44e4-816d-af01320125e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98767c-58d1-4415-9ec5-59f5f2b834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影像標籤" ma:readOnly="false" ma:fieldId="{5cf76f15-5ced-4ddc-b409-7134ff3c332f}" ma:taxonomyMulti="true" ma:sspId="79ec5483-5271-446b-8e49-8f0a5be310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357E3-8CE8-46A4-B55A-2130B8669069}">
  <ds:schemaRefs>
    <ds:schemaRef ds:uri="http://schemas.microsoft.com/office/2006/metadata/properties"/>
    <ds:schemaRef ds:uri="http://schemas.microsoft.com/office/infopath/2007/PartnerControls"/>
    <ds:schemaRef ds:uri="7298767c-58d1-4415-9ec5-59f5f2b8349e"/>
  </ds:schemaRefs>
</ds:datastoreItem>
</file>

<file path=customXml/itemProps2.xml><?xml version="1.0" encoding="utf-8"?>
<ds:datastoreItem xmlns:ds="http://schemas.openxmlformats.org/officeDocument/2006/customXml" ds:itemID="{970162F0-D87F-4CE9-A3C2-FA5A668875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5C4B84-A07C-45BA-AF05-E136FD1EB37C}"/>
</file>

<file path=docMetadata/LabelInfo.xml><?xml version="1.0" encoding="utf-8"?>
<clbl:labelList xmlns:clbl="http://schemas.microsoft.com/office/2020/mipLabelMetadata">
  <clbl:label id="{d5c5379f-bd82-4962-9571-27ec5e044409}" enabled="1" method="Standard" siteId="{71e18682-eb13-4225-a121-dbaa52d8a5e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1561</Words>
  <Application>Microsoft Office PowerPoint</Application>
  <PresentationFormat>寬螢幕</PresentationFormat>
  <Paragraphs>221</Paragraphs>
  <Slides>21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2" baseType="lpstr">
      <vt:lpstr>Office 佈景主題</vt:lpstr>
      <vt:lpstr> 情境模擬</vt:lpstr>
      <vt:lpstr>客戶下預測或訂單時，即啟動 Liability 計算</vt:lpstr>
      <vt:lpstr>預採帳與 Liability</vt:lpstr>
      <vt:lpstr>Liability 與開帳 (不含 LL/45D討論)</vt:lpstr>
      <vt:lpstr>Liability 與開帳 (不含 LL/45D討論)</vt:lpstr>
      <vt:lpstr>Liability 與開帳 (不含 LL/45D討論)</vt:lpstr>
      <vt:lpstr>配銷通路：J1 訂單：SO25710393 項次：4 料號：AP4-001403 數量：168 日期：2025/10/07</vt:lpstr>
      <vt:lpstr>ZTGCX0017 客戶責任材料計算報表</vt:lpstr>
      <vt:lpstr>1. 預採帳與 Liability 比較</vt:lpstr>
      <vt:lpstr>由 Liability 計算至結餘</vt:lpstr>
      <vt:lpstr>2. 訂單增量</vt:lpstr>
      <vt:lpstr>3. 訂單減量或取消</vt:lpstr>
      <vt:lpstr>前後期訂單比較</vt:lpstr>
      <vt:lpstr>3. MOQ/MPQ的影響</vt:lpstr>
      <vt:lpstr>由本期初計算至 Liability</vt:lpstr>
      <vt:lpstr>5. Liability 因完工轉移至半成品、成品</vt:lpstr>
      <vt:lpstr>6. Liability 出貨除帳</vt:lpstr>
      <vt:lpstr>由上期末計算本期初</vt:lpstr>
      <vt:lpstr>7. 依備料日期計算帳齡，作為請款依據</vt:lpstr>
      <vt:lpstr>由“本期備料量” 可知到期別(備料日期)，再考慮 Lead Time，可以計算在庫天數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Wang</dc:creator>
  <cp:lastModifiedBy>Oliver Wang</cp:lastModifiedBy>
  <cp:revision>2</cp:revision>
  <dcterms:created xsi:type="dcterms:W3CDTF">2025-04-16T12:05:07Z</dcterms:created>
  <dcterms:modified xsi:type="dcterms:W3CDTF">2026-03-12T05:15:05Z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0x0101001E932B92ED76C8449CDA62695A7C2944</vt:lpwstr>
  </property>
  <property fmtid="{D5CDD505-2E9C-101B-9397-08002B2CF9AE}" pid="3" name="MediaServiceImageTags">
    <vt:lpwstr/>
  </property>
</Properties>
</file>